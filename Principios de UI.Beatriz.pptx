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31F2F058-0BB6-4D12-9413-E2940263A2CC}" type="datetimeFigureOut">
              <a:rPr lang="es-SV" smtClean="0"/>
              <a:t>28/4/2026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902FD8E9-D148-4FCB-B71B-16067D9877B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623279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2F058-0BB6-4D12-9413-E2940263A2CC}" type="datetimeFigureOut">
              <a:rPr lang="es-SV" smtClean="0"/>
              <a:t>28/4/2026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D8E9-D148-4FCB-B71B-16067D9877B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248575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2F058-0BB6-4D12-9413-E2940263A2CC}" type="datetimeFigureOut">
              <a:rPr lang="es-SV" smtClean="0"/>
              <a:t>28/4/2026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D8E9-D148-4FCB-B71B-16067D9877B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652579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2F058-0BB6-4D12-9413-E2940263A2CC}" type="datetimeFigureOut">
              <a:rPr lang="es-SV" smtClean="0"/>
              <a:t>28/4/2026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D8E9-D148-4FCB-B71B-16067D9877B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598213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2F058-0BB6-4D12-9413-E2940263A2CC}" type="datetimeFigureOut">
              <a:rPr lang="es-SV" smtClean="0"/>
              <a:t>28/4/2026</a:t>
            </a:fld>
            <a:endParaRPr lang="es-SV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D8E9-D148-4FCB-B71B-16067D9877B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216111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2F058-0BB6-4D12-9413-E2940263A2CC}" type="datetimeFigureOut">
              <a:rPr lang="es-SV" smtClean="0"/>
              <a:t>28/4/2026</a:t>
            </a:fld>
            <a:endParaRPr lang="es-SV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D8E9-D148-4FCB-B71B-16067D9877B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753032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2F058-0BB6-4D12-9413-E2940263A2CC}" type="datetimeFigureOut">
              <a:rPr lang="es-SV" smtClean="0"/>
              <a:t>28/4/2026</a:t>
            </a:fld>
            <a:endParaRPr lang="es-SV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D8E9-D148-4FCB-B71B-16067D9877B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926393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2F058-0BB6-4D12-9413-E2940263A2CC}" type="datetimeFigureOut">
              <a:rPr lang="es-SV" smtClean="0"/>
              <a:t>28/4/2026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D8E9-D148-4FCB-B71B-16067D9877B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634114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2F058-0BB6-4D12-9413-E2940263A2CC}" type="datetimeFigureOut">
              <a:rPr lang="es-SV" smtClean="0"/>
              <a:t>28/4/2026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D8E9-D148-4FCB-B71B-16067D9877B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230717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2F058-0BB6-4D12-9413-E2940263A2CC}" type="datetimeFigureOut">
              <a:rPr lang="es-SV" smtClean="0"/>
              <a:t>28/4/2026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D8E9-D148-4FCB-B71B-16067D9877B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662874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2F058-0BB6-4D12-9413-E2940263A2CC}" type="datetimeFigureOut">
              <a:rPr lang="es-SV" smtClean="0"/>
              <a:t>28/4/2026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D8E9-D148-4FCB-B71B-16067D9877B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3026807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2F058-0BB6-4D12-9413-E2940263A2CC}" type="datetimeFigureOut">
              <a:rPr lang="es-SV" smtClean="0"/>
              <a:t>28/4/2026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D8E9-D148-4FCB-B71B-16067D9877BA}" type="slidenum">
              <a:rPr lang="es-SV" smtClean="0"/>
              <a:t>‹Nº›</a:t>
            </a:fld>
            <a:endParaRPr lang="es-SV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229525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2F058-0BB6-4D12-9413-E2940263A2CC}" type="datetimeFigureOut">
              <a:rPr lang="es-SV" smtClean="0"/>
              <a:t>28/4/2026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D8E9-D148-4FCB-B71B-16067D9877B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9373327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2F058-0BB6-4D12-9413-E2940263A2CC}" type="datetimeFigureOut">
              <a:rPr lang="es-SV" smtClean="0"/>
              <a:t>28/4/2026</a:t>
            </a:fld>
            <a:endParaRPr lang="es-SV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D8E9-D148-4FCB-B71B-16067D9877B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6090327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2F058-0BB6-4D12-9413-E2940263A2CC}" type="datetimeFigureOut">
              <a:rPr lang="es-SV" smtClean="0"/>
              <a:t>28/4/2026</a:t>
            </a:fld>
            <a:endParaRPr lang="es-SV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D8E9-D148-4FCB-B71B-16067D9877B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689621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2F058-0BB6-4D12-9413-E2940263A2CC}" type="datetimeFigureOut">
              <a:rPr lang="es-SV" smtClean="0"/>
              <a:t>28/4/2026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D8E9-D148-4FCB-B71B-16067D9877B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3518266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2F058-0BB6-4D12-9413-E2940263A2CC}" type="datetimeFigureOut">
              <a:rPr lang="es-SV" smtClean="0"/>
              <a:t>28/4/2026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D8E9-D148-4FCB-B71B-16067D9877B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470729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2F058-0BB6-4D12-9413-E2940263A2CC}" type="datetimeFigureOut">
              <a:rPr lang="es-SV" smtClean="0"/>
              <a:t>28/4/2026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FD8E9-D148-4FCB-B71B-16067D9877BA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954693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327A33-A9F5-0F34-A782-705C203C92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SV" dirty="0"/>
              <a:t>Principios de UI/UX, Usabilidad y Heurísticas de Nielsen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092C31-F425-A4F2-4A29-22F0D2B2FD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402116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FBF980B-8D45-7230-C374-CBC96F237A20}"/>
              </a:ext>
            </a:extLst>
          </p:cNvPr>
          <p:cNvSpPr txBox="1"/>
          <p:nvPr/>
        </p:nvSpPr>
        <p:spPr>
          <a:xfrm>
            <a:off x="2035969" y="428178"/>
            <a:ext cx="846534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Introducción</a:t>
            </a:r>
          </a:p>
          <a:p>
            <a:pPr>
              <a:buNone/>
            </a:pPr>
            <a:endParaRPr lang="es-E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Importancia del diseño en software </a:t>
            </a:r>
          </a:p>
          <a:p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Enfoque en el usuario </a:t>
            </a:r>
          </a:p>
          <a:p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Mejora la interacción </a:t>
            </a:r>
          </a:p>
          <a:p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s-ES" sz="3200" i="1" dirty="0">
                <a:latin typeface="Arial" panose="020B0604020202020204" pitchFamily="34" charset="0"/>
                <a:cs typeface="Arial" panose="020B0604020202020204" pitchFamily="34" charset="0"/>
              </a:rPr>
              <a:t>Dices:</a:t>
            </a:r>
          </a:p>
          <a:p>
            <a:pPr>
              <a:buNone/>
            </a:pPr>
            <a:b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“Hoy veremos cómo hacer sistemas fáciles y agradables de usar.”</a:t>
            </a:r>
          </a:p>
        </p:txBody>
      </p:sp>
    </p:spTree>
    <p:extLst>
      <p:ext uri="{BB962C8B-B14F-4D97-AF65-F5344CB8AC3E}">
        <p14:creationId xmlns:p14="http://schemas.microsoft.com/office/powerpoint/2010/main" val="2393018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A14179E-763C-7606-7158-8999CAF27065}"/>
              </a:ext>
            </a:extLst>
          </p:cNvPr>
          <p:cNvSpPr txBox="1"/>
          <p:nvPr/>
        </p:nvSpPr>
        <p:spPr>
          <a:xfrm>
            <a:off x="2078831" y="511493"/>
            <a:ext cx="610076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¿Qué es UI?</a:t>
            </a:r>
          </a:p>
          <a:p>
            <a:pPr>
              <a:buNone/>
            </a:pPr>
            <a:endParaRPr lang="es-E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Interfaz de usuario </a:t>
            </a:r>
          </a:p>
          <a:p>
            <a:endParaRPr lang="es-E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Parte visual del sistema </a:t>
            </a:r>
          </a:p>
          <a:p>
            <a:endParaRPr lang="es-E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Botones, colores, menús </a:t>
            </a:r>
          </a:p>
          <a:p>
            <a:endParaRPr lang="es-E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 Objetivo: que sea atractiva y clara</a:t>
            </a:r>
          </a:p>
        </p:txBody>
      </p:sp>
    </p:spTree>
    <p:extLst>
      <p:ext uri="{BB962C8B-B14F-4D97-AF65-F5344CB8AC3E}">
        <p14:creationId xmlns:p14="http://schemas.microsoft.com/office/powerpoint/2010/main" val="2247671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7A59141-0679-042F-6967-D3F6720EAEF2}"/>
              </a:ext>
            </a:extLst>
          </p:cNvPr>
          <p:cNvSpPr txBox="1"/>
          <p:nvPr/>
        </p:nvSpPr>
        <p:spPr>
          <a:xfrm>
            <a:off x="1993107" y="920621"/>
            <a:ext cx="610076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¿Qué es UX?</a:t>
            </a:r>
          </a:p>
          <a:p>
            <a:pPr>
              <a:buNone/>
            </a:pPr>
            <a:endParaRPr lang="es-E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Experiencia del usuario </a:t>
            </a:r>
          </a:p>
          <a:p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Cómo se siente al usar el sistema</a:t>
            </a:r>
          </a:p>
          <a:p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Facilidad, rapidez, comodidad </a:t>
            </a:r>
          </a:p>
          <a:p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 Objetivo: experiencia positiva</a:t>
            </a:r>
          </a:p>
        </p:txBody>
      </p:sp>
    </p:spTree>
    <p:extLst>
      <p:ext uri="{BB962C8B-B14F-4D97-AF65-F5344CB8AC3E}">
        <p14:creationId xmlns:p14="http://schemas.microsoft.com/office/powerpoint/2010/main" val="3556666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186DC1A-060F-173B-751A-E38FF25E369B}"/>
              </a:ext>
            </a:extLst>
          </p:cNvPr>
          <p:cNvSpPr txBox="1"/>
          <p:nvPr/>
        </p:nvSpPr>
        <p:spPr>
          <a:xfrm>
            <a:off x="1921669" y="1278643"/>
            <a:ext cx="610076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Diferencia UI vs UX</a:t>
            </a:r>
          </a:p>
          <a:p>
            <a:pPr>
              <a:buNone/>
            </a:pPr>
            <a:endParaRPr lang="es-E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UI = diseño visual </a:t>
            </a:r>
          </a:p>
          <a:p>
            <a:endParaRPr lang="es-E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UX = experiencia </a:t>
            </a:r>
          </a:p>
          <a:p>
            <a:endParaRPr lang="es-E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Trabajan juntos</a:t>
            </a:r>
          </a:p>
        </p:txBody>
      </p:sp>
    </p:spTree>
    <p:extLst>
      <p:ext uri="{BB962C8B-B14F-4D97-AF65-F5344CB8AC3E}">
        <p14:creationId xmlns:p14="http://schemas.microsoft.com/office/powerpoint/2010/main" val="3087435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1D2C010-7C5D-D161-DDA9-E59153751C36}"/>
              </a:ext>
            </a:extLst>
          </p:cNvPr>
          <p:cNvSpPr txBox="1"/>
          <p:nvPr/>
        </p:nvSpPr>
        <p:spPr>
          <a:xfrm>
            <a:off x="2064544" y="597218"/>
            <a:ext cx="610076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Usabilidad</a:t>
            </a:r>
          </a:p>
          <a:p>
            <a:pPr>
              <a:buNone/>
            </a:pPr>
            <a:endParaRPr lang="es-E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Facilidad de uso </a:t>
            </a:r>
          </a:p>
          <a:p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Sistema intuitivo </a:t>
            </a:r>
          </a:p>
          <a:p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Reduce errores </a:t>
            </a:r>
          </a:p>
          <a:p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Mejora eficiencia</a:t>
            </a:r>
          </a:p>
        </p:txBody>
      </p:sp>
    </p:spTree>
    <p:extLst>
      <p:ext uri="{BB962C8B-B14F-4D97-AF65-F5344CB8AC3E}">
        <p14:creationId xmlns:p14="http://schemas.microsoft.com/office/powerpoint/2010/main" val="1275913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325530B-1A73-E37D-077C-F9E3A040D295}"/>
              </a:ext>
            </a:extLst>
          </p:cNvPr>
          <p:cNvSpPr txBox="1"/>
          <p:nvPr/>
        </p:nvSpPr>
        <p:spPr>
          <a:xfrm>
            <a:off x="2364582" y="797243"/>
            <a:ext cx="610076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Características de usabilidad</a:t>
            </a:r>
          </a:p>
          <a:p>
            <a:pPr>
              <a:buNone/>
            </a:pPr>
            <a:endParaRPr lang="es-E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Fácil de aprender </a:t>
            </a:r>
          </a:p>
          <a:p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Rápido de usar </a:t>
            </a:r>
          </a:p>
          <a:p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Menos errores </a:t>
            </a:r>
          </a:p>
          <a:p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Satisfacción del usuario</a:t>
            </a:r>
          </a:p>
        </p:txBody>
      </p:sp>
    </p:spTree>
    <p:extLst>
      <p:ext uri="{BB962C8B-B14F-4D97-AF65-F5344CB8AC3E}">
        <p14:creationId xmlns:p14="http://schemas.microsoft.com/office/powerpoint/2010/main" val="505753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ABB50524-FDA8-8E18-EBB8-E95248FB4047}"/>
              </a:ext>
            </a:extLst>
          </p:cNvPr>
          <p:cNvSpPr txBox="1"/>
          <p:nvPr/>
        </p:nvSpPr>
        <p:spPr>
          <a:xfrm>
            <a:off x="2121694" y="1192918"/>
            <a:ext cx="610076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Heurísticas de Nielsen</a:t>
            </a:r>
          </a:p>
          <a:p>
            <a:pPr>
              <a:buNone/>
            </a:pPr>
            <a:endParaRPr lang="es-E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10 principios </a:t>
            </a:r>
          </a:p>
          <a:p>
            <a:endParaRPr lang="es-E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Evalúan la usabilidad </a:t>
            </a:r>
          </a:p>
          <a:p>
            <a:endParaRPr lang="es-E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Mejoran diseño del sistema</a:t>
            </a:r>
          </a:p>
        </p:txBody>
      </p:sp>
    </p:spTree>
    <p:extLst>
      <p:ext uri="{BB962C8B-B14F-4D97-AF65-F5344CB8AC3E}">
        <p14:creationId xmlns:p14="http://schemas.microsoft.com/office/powerpoint/2010/main" val="255798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BA6E299-4FCD-9244-003E-080834E6061C}"/>
              </a:ext>
            </a:extLst>
          </p:cNvPr>
          <p:cNvSpPr txBox="1"/>
          <p:nvPr/>
        </p:nvSpPr>
        <p:spPr>
          <a:xfrm>
            <a:off x="1835943" y="674400"/>
            <a:ext cx="6100762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Heurísticas (1–5)</a:t>
            </a:r>
          </a:p>
          <a:p>
            <a:pPr>
              <a:buNone/>
            </a:pPr>
            <a:endParaRPr lang="es-E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Visibilidad del sistema </a:t>
            </a:r>
          </a:p>
          <a:p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2.Relación con el mundo real</a:t>
            </a:r>
          </a:p>
          <a:p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3.Control del usuario </a:t>
            </a:r>
          </a:p>
          <a:p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4.Consistencia </a:t>
            </a:r>
          </a:p>
          <a:p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5.Prevención de errores</a:t>
            </a:r>
          </a:p>
        </p:txBody>
      </p:sp>
    </p:spTree>
    <p:extLst>
      <p:ext uri="{BB962C8B-B14F-4D97-AF65-F5344CB8AC3E}">
        <p14:creationId xmlns:p14="http://schemas.microsoft.com/office/powerpoint/2010/main" val="4024337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A0E315A-6B62-771E-E0A5-E3DFA54613C6}"/>
              </a:ext>
            </a:extLst>
          </p:cNvPr>
          <p:cNvSpPr txBox="1"/>
          <p:nvPr/>
        </p:nvSpPr>
        <p:spPr>
          <a:xfrm>
            <a:off x="2050257" y="674400"/>
            <a:ext cx="6100762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Heurísticas (6–10)</a:t>
            </a:r>
          </a:p>
          <a:p>
            <a:pPr>
              <a:buNone/>
            </a:pPr>
            <a:endParaRPr lang="es-E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+mj-lt"/>
              <a:buAutoNum type="arabicPeriod" startAt="6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Reconocer antes que recordar</a:t>
            </a:r>
          </a:p>
          <a:p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7.Flexibilidad </a:t>
            </a:r>
          </a:p>
          <a:p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8.Diseño simple </a:t>
            </a:r>
          </a:p>
          <a:p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9.Manejo de errores </a:t>
            </a:r>
          </a:p>
          <a:p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10.Ayuda y documentación</a:t>
            </a:r>
          </a:p>
        </p:txBody>
      </p:sp>
    </p:spTree>
    <p:extLst>
      <p:ext uri="{BB962C8B-B14F-4D97-AF65-F5344CB8AC3E}">
        <p14:creationId xmlns:p14="http://schemas.microsoft.com/office/powerpoint/2010/main" val="1832335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FF0CA21-3325-18ED-0FC9-64B0F479CBE1}"/>
              </a:ext>
            </a:extLst>
          </p:cNvPr>
          <p:cNvSpPr txBox="1"/>
          <p:nvPr/>
        </p:nvSpPr>
        <p:spPr>
          <a:xfrm>
            <a:off x="1535906" y="1178630"/>
            <a:ext cx="610076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Ejemplos</a:t>
            </a:r>
          </a:p>
          <a:p>
            <a:pPr>
              <a:buNone/>
            </a:pPr>
            <a:endParaRPr lang="es-E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Barra de carga → visibilidad </a:t>
            </a:r>
          </a:p>
          <a:p>
            <a:endParaRPr lang="es-E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Botón “atrás” → control </a:t>
            </a:r>
          </a:p>
          <a:p>
            <a:endParaRPr lang="es-E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Mensajes claros → errores</a:t>
            </a:r>
          </a:p>
        </p:txBody>
      </p:sp>
    </p:spTree>
    <p:extLst>
      <p:ext uri="{BB962C8B-B14F-4D97-AF65-F5344CB8AC3E}">
        <p14:creationId xmlns:p14="http://schemas.microsoft.com/office/powerpoint/2010/main" val="4177467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A1252F32-0BC3-BF4F-C7E3-8D365A04E147}"/>
              </a:ext>
            </a:extLst>
          </p:cNvPr>
          <p:cNvSpPr txBox="1"/>
          <p:nvPr/>
        </p:nvSpPr>
        <p:spPr>
          <a:xfrm>
            <a:off x="1550194" y="1011555"/>
            <a:ext cx="610076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Importancia</a:t>
            </a:r>
          </a:p>
          <a:p>
            <a:pPr>
              <a:buNone/>
            </a:pPr>
            <a:endParaRPr lang="es-E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Mejora experiencia </a:t>
            </a:r>
          </a:p>
          <a:p>
            <a:endParaRPr lang="es-E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Facilita uso</a:t>
            </a:r>
          </a:p>
          <a:p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Aumenta satisfacción</a:t>
            </a:r>
          </a:p>
          <a:p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Reduce errores</a:t>
            </a:r>
          </a:p>
        </p:txBody>
      </p:sp>
    </p:spTree>
    <p:extLst>
      <p:ext uri="{BB962C8B-B14F-4D97-AF65-F5344CB8AC3E}">
        <p14:creationId xmlns:p14="http://schemas.microsoft.com/office/powerpoint/2010/main" val="3740519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6B3EEE1-82A2-4235-A7E6-EC0ACA5CC0B8}"/>
              </a:ext>
            </a:extLst>
          </p:cNvPr>
          <p:cNvSpPr txBox="1"/>
          <p:nvPr/>
        </p:nvSpPr>
        <p:spPr>
          <a:xfrm>
            <a:off x="1250156" y="612904"/>
            <a:ext cx="943689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CONCLUSIÓN</a:t>
            </a:r>
          </a:p>
          <a:p>
            <a:pPr algn="ctr">
              <a:buNone/>
            </a:pPr>
            <a:endParaRPr lang="es-E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Los principios de UI/UX, la usabilidad y las heurísticas de Jakob Nielsen son fundamentales para crear sistemas que no solo funcionen correctamente, sino que también sean </a:t>
            </a:r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fáciles de usar, eficientes y agradables</a:t>
            </a: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 para los usuarios.</a:t>
            </a:r>
          </a:p>
          <a:p>
            <a:pPr>
              <a:buNone/>
            </a:pP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Aplicar estos conceptos permite </a:t>
            </a:r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mejorar la experiencia del usuario, reducir errores y facilitar la interacción</a:t>
            </a: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, logrando aplicaciones más claras y accesibles.</a:t>
            </a:r>
          </a:p>
          <a:p>
            <a:pPr>
              <a:buNone/>
            </a:pP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En conjunto, ayudan a diseñar productos digitales de mayor calidad, centrados en las necesidades del usuario.</a:t>
            </a:r>
          </a:p>
        </p:txBody>
      </p:sp>
    </p:spTree>
    <p:extLst>
      <p:ext uri="{BB962C8B-B14F-4D97-AF65-F5344CB8AC3E}">
        <p14:creationId xmlns:p14="http://schemas.microsoft.com/office/powerpoint/2010/main" val="20499731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FFFFFF"/>
      </a:dk1>
      <a:lt1>
        <a:sysClr val="window" lastClr="202020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Circuito</Template>
  <TotalTime>19</TotalTime>
  <Words>305</Words>
  <Application>Microsoft Office PowerPoint</Application>
  <PresentationFormat>Panorámica</PresentationFormat>
  <Paragraphs>104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Tw Cen MT</vt:lpstr>
      <vt:lpstr>Circuito</vt:lpstr>
      <vt:lpstr>Principios de UI/UX, Usabilidad y Heurísticas de Nielsen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mined</dc:creator>
  <cp:lastModifiedBy>mined</cp:lastModifiedBy>
  <cp:revision>1</cp:revision>
  <dcterms:created xsi:type="dcterms:W3CDTF">2026-04-29T02:33:28Z</dcterms:created>
  <dcterms:modified xsi:type="dcterms:W3CDTF">2026-04-29T02:53:18Z</dcterms:modified>
</cp:coreProperties>
</file>