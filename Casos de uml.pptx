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291" autoAdjust="0"/>
  </p:normalViewPr>
  <p:slideViewPr>
    <p:cSldViewPr snapToGrid="0">
      <p:cViewPr>
        <p:scale>
          <a:sx n="75" d="100"/>
          <a:sy n="75" d="100"/>
        </p:scale>
        <p:origin x="540" y="-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3/9/2026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9CB3CE-122F-87CB-4007-A60FABA5C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911" y="1545099"/>
            <a:ext cx="6104230" cy="2743723"/>
          </a:xfrm>
        </p:spPr>
        <p:txBody>
          <a:bodyPr>
            <a:normAutofit fontScale="90000"/>
          </a:bodyPr>
          <a:lstStyle/>
          <a:p>
            <a:r>
              <a:rPr lang="es-ES" sz="2700" b="1" dirty="0"/>
              <a:t>Actividad 5: Casos de Uso en UML</a:t>
            </a:r>
            <a:br>
              <a:rPr lang="es-ES" sz="2700" dirty="0"/>
            </a:br>
            <a:r>
              <a:rPr lang="es-ES" sz="2700" dirty="0"/>
              <a:t>Casos de uso</a:t>
            </a:r>
            <a:br>
              <a:rPr lang="es-ES" sz="2700" dirty="0"/>
            </a:br>
            <a:r>
              <a:rPr lang="es-ES" sz="2700" dirty="0"/>
              <a:t>Factores del sistema</a:t>
            </a:r>
            <a:br>
              <a:rPr lang="es-ES" sz="2700" dirty="0"/>
            </a:br>
            <a:r>
              <a:rPr lang="es-ES" sz="2700" dirty="0"/>
              <a:t>Flujos alternos</a:t>
            </a:r>
            <a:br>
              <a:rPr lang="es-ES" sz="2700" dirty="0"/>
            </a:br>
            <a:r>
              <a:rPr lang="es-ES" sz="2700" dirty="0"/>
              <a:t>Descripción de un caso de uso</a:t>
            </a:r>
            <a:br>
              <a:rPr lang="es-ES" dirty="0"/>
            </a:br>
            <a:endParaRPr lang="es-SV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986473B-74FE-D514-FD8C-CE9D58319B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SV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7A7E0E7-E2FD-B35A-92B1-E755AA2B05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0141" y="1774876"/>
            <a:ext cx="5675948" cy="420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0D1D2BC-A6E2-5674-AE9A-785E283A3494}"/>
              </a:ext>
            </a:extLst>
          </p:cNvPr>
          <p:cNvSpPr txBox="1"/>
          <p:nvPr/>
        </p:nvSpPr>
        <p:spPr>
          <a:xfrm>
            <a:off x="271976" y="192426"/>
            <a:ext cx="11648048" cy="10259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spcAft>
                <a:spcPts val="800"/>
              </a:spcAft>
              <a:buNone/>
            </a:pPr>
            <a:endParaRPr lang="es-ES" b="0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br>
              <a:rPr lang="es-ES" dirty="0"/>
            </a:br>
            <a:endParaRPr lang="es-SV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1772009-C6DF-A0BC-2FDB-E636B5CF4672}"/>
              </a:ext>
            </a:extLst>
          </p:cNvPr>
          <p:cNvSpPr txBox="1"/>
          <p:nvPr/>
        </p:nvSpPr>
        <p:spPr>
          <a:xfrm>
            <a:off x="271976" y="582067"/>
            <a:ext cx="1192002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UML?</a:t>
            </a:r>
          </a:p>
          <a:p>
            <a:pPr algn="ctr">
              <a:buNone/>
            </a:pPr>
            <a:endParaRPr lang="es-E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Unified Modeling Language (UML) es un lenguaje visual utilizado para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modelar, diseñar y documentar sistemas de software</a:t>
            </a: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Permite representar gráficamente: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Estructura del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Interacciones entre usuarios y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Procesos y funciones del software</a:t>
            </a:r>
          </a:p>
        </p:txBody>
      </p:sp>
    </p:spTree>
    <p:extLst>
      <p:ext uri="{BB962C8B-B14F-4D97-AF65-F5344CB8AC3E}">
        <p14:creationId xmlns:p14="http://schemas.microsoft.com/office/powerpoint/2010/main" val="126647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F5458E86-7157-BDDF-1BDA-6D435145EF6B}"/>
              </a:ext>
            </a:extLst>
          </p:cNvPr>
          <p:cNvSpPr txBox="1"/>
          <p:nvPr/>
        </p:nvSpPr>
        <p:spPr>
          <a:xfrm>
            <a:off x="1148861" y="955827"/>
            <a:ext cx="10245969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¿Qué es un Caso de Uso?</a:t>
            </a:r>
          </a:p>
          <a:p>
            <a:pPr algn="ctr">
              <a:buNone/>
            </a:pPr>
            <a:endParaRPr lang="es-E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Un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caso de uso</a:t>
            </a: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 describe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cómo un usuario interactúa con un sistema para lograr un objetivo</a:t>
            </a: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Muestra: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Qué acciones realiza el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Cómo responde el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Qué resultado se obtiene</a:t>
            </a:r>
          </a:p>
        </p:txBody>
      </p:sp>
    </p:spTree>
    <p:extLst>
      <p:ext uri="{BB962C8B-B14F-4D97-AF65-F5344CB8AC3E}">
        <p14:creationId xmlns:p14="http://schemas.microsoft.com/office/powerpoint/2010/main" val="1098049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69D948-3899-C7D5-0A87-06EC59C2E68F}"/>
              </a:ext>
            </a:extLst>
          </p:cNvPr>
          <p:cNvSpPr txBox="1"/>
          <p:nvPr/>
        </p:nvSpPr>
        <p:spPr>
          <a:xfrm>
            <a:off x="1209822" y="674400"/>
            <a:ext cx="891891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Elementos de un Caso de Uso</a:t>
            </a: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Los principales elementos son: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Actor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Persona o sistema que interactúa con el sistema.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Sistema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Software o aplicación que se está desarrollando.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Caso de uso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Acción o función que el usuario puede realizar.</a:t>
            </a:r>
          </a:p>
        </p:txBody>
      </p:sp>
    </p:spTree>
    <p:extLst>
      <p:ext uri="{BB962C8B-B14F-4D97-AF65-F5344CB8AC3E}">
        <p14:creationId xmlns:p14="http://schemas.microsoft.com/office/powerpoint/2010/main" val="223598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8EE2930-CEB1-E368-C5A1-95287660023D}"/>
              </a:ext>
            </a:extLst>
          </p:cNvPr>
          <p:cNvSpPr txBox="1"/>
          <p:nvPr/>
        </p:nvSpPr>
        <p:spPr>
          <a:xfrm>
            <a:off x="2574388" y="456460"/>
            <a:ext cx="610537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Ejemplos de Casos de Uso</a:t>
            </a:r>
          </a:p>
          <a:p>
            <a:pPr algn="ctr">
              <a:buNone/>
            </a:pPr>
            <a:endParaRPr lang="es-ES" sz="36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Ejemplo en un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sistema escolar</a:t>
            </a: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Actor: Estudiante</a:t>
            </a: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Casos de uso: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Iniciar sesión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Consultar notas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Ver horario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Descargar reportes</a:t>
            </a:r>
          </a:p>
        </p:txBody>
      </p:sp>
    </p:spTree>
    <p:extLst>
      <p:ext uri="{BB962C8B-B14F-4D97-AF65-F5344CB8AC3E}">
        <p14:creationId xmlns:p14="http://schemas.microsoft.com/office/powerpoint/2010/main" val="1265468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640695B-CE3B-9CC7-2D6D-5534DA6600F2}"/>
              </a:ext>
            </a:extLst>
          </p:cNvPr>
          <p:cNvSpPr txBox="1"/>
          <p:nvPr/>
        </p:nvSpPr>
        <p:spPr>
          <a:xfrm>
            <a:off x="2518118" y="428178"/>
            <a:ext cx="610537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del Sistema</a:t>
            </a:r>
          </a:p>
          <a:p>
            <a:pPr algn="ctr">
              <a:buNone/>
            </a:pPr>
            <a:endParaRPr lang="es-E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factores del sistema</a:t>
            </a: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 son elementos que influyen en su funcionamiento.</a:t>
            </a: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Entre los más importantes están: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Tecnología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Procesos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Entorno</a:t>
            </a:r>
          </a:p>
        </p:txBody>
      </p:sp>
    </p:spTree>
    <p:extLst>
      <p:ext uri="{BB962C8B-B14F-4D97-AF65-F5344CB8AC3E}">
        <p14:creationId xmlns:p14="http://schemas.microsoft.com/office/powerpoint/2010/main" val="2938467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5651D00-CA50-04BB-58E2-FCCD66AD8243}"/>
              </a:ext>
            </a:extLst>
          </p:cNvPr>
          <p:cNvSpPr txBox="1"/>
          <p:nvPr/>
        </p:nvSpPr>
        <p:spPr>
          <a:xfrm>
            <a:off x="379828" y="797510"/>
            <a:ext cx="10832123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Explicación de los Factores</a:t>
            </a:r>
          </a:p>
          <a:p>
            <a:pPr algn="ctr">
              <a:buNone/>
            </a:pPr>
            <a:r>
              <a:rPr lang="es-E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Usuarios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Personas que utilizan el sistema.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Tecnología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Hardware y software utilizados.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Datos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Información que el sistema procesa.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Procesos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Actividades que realiza el sistema.</a:t>
            </a:r>
          </a:p>
          <a:p>
            <a:pPr>
              <a:buNone/>
            </a:pP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Entorno</a:t>
            </a:r>
            <a:b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Lugar o contexto donde funciona el sistema.</a:t>
            </a:r>
          </a:p>
        </p:txBody>
      </p:sp>
    </p:spTree>
    <p:extLst>
      <p:ext uri="{BB962C8B-B14F-4D97-AF65-F5344CB8AC3E}">
        <p14:creationId xmlns:p14="http://schemas.microsoft.com/office/powerpoint/2010/main" val="2370884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E0BEC2B-264F-2077-6768-522196EC20EA}"/>
              </a:ext>
            </a:extLst>
          </p:cNvPr>
          <p:cNvSpPr txBox="1"/>
          <p:nvPr/>
        </p:nvSpPr>
        <p:spPr>
          <a:xfrm>
            <a:off x="1716257" y="305068"/>
            <a:ext cx="8159262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Flujos Alternos</a:t>
            </a:r>
          </a:p>
          <a:p>
            <a:pPr algn="ctr">
              <a:buNone/>
            </a:pPr>
            <a:endParaRPr lang="es-E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Los </a:t>
            </a:r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flujos alternos</a:t>
            </a: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 son caminos diferentes que puede tomar un proceso cuando algo no ocurre como en el flujo principal.</a:t>
            </a:r>
          </a:p>
          <a:p>
            <a:pPr>
              <a:buNone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Sirven para mostrar: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Errores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Excepciones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Situaciones especiales</a:t>
            </a:r>
          </a:p>
        </p:txBody>
      </p:sp>
    </p:spTree>
    <p:extLst>
      <p:ext uri="{BB962C8B-B14F-4D97-AF65-F5344CB8AC3E}">
        <p14:creationId xmlns:p14="http://schemas.microsoft.com/office/powerpoint/2010/main" val="1369324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E963EB4-8DC2-A28B-A76C-784247E8122F}"/>
              </a:ext>
            </a:extLst>
          </p:cNvPr>
          <p:cNvSpPr txBox="1"/>
          <p:nvPr/>
        </p:nvSpPr>
        <p:spPr>
          <a:xfrm>
            <a:off x="2152356" y="674400"/>
            <a:ext cx="7568419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Ejemplo de Flujo Alterno</a:t>
            </a:r>
          </a:p>
          <a:p>
            <a:pPr algn="ctr">
              <a:buNone/>
            </a:pPr>
            <a:endParaRPr lang="es-E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Caso de uso: </a:t>
            </a:r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Iniciar sesión</a:t>
            </a:r>
            <a:endParaRPr lang="es-ES" sz="3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Flujo principal: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Usuario ingresa usuario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Ingresa contraseña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 sistema verifica datos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Se permite el acceso</a:t>
            </a: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Flujo alterno: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Si la contraseña es incorrecta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 sistema muestra mensaje de error</a:t>
            </a:r>
          </a:p>
        </p:txBody>
      </p:sp>
    </p:spTree>
    <p:extLst>
      <p:ext uri="{BB962C8B-B14F-4D97-AF65-F5344CB8AC3E}">
        <p14:creationId xmlns:p14="http://schemas.microsoft.com/office/powerpoint/2010/main" val="1319263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1C9968-C679-4F06-EFE7-5F696952E304}"/>
              </a:ext>
            </a:extLst>
          </p:cNvPr>
          <p:cNvSpPr txBox="1"/>
          <p:nvPr/>
        </p:nvSpPr>
        <p:spPr>
          <a:xfrm>
            <a:off x="1420836" y="612844"/>
            <a:ext cx="890485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Descripción de un Caso de Uso</a:t>
            </a:r>
          </a:p>
          <a:p>
            <a:pPr>
              <a:buNone/>
            </a:pPr>
            <a:endParaRPr lang="es-E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Ejemplo: </a:t>
            </a:r>
            <a:r>
              <a:rPr lang="es-ES" sz="3600" b="1" dirty="0">
                <a:latin typeface="Arial" panose="020B0604020202020204" pitchFamily="34" charset="0"/>
                <a:cs typeface="Arial" panose="020B0604020202020204" pitchFamily="34" charset="0"/>
              </a:rPr>
              <a:t>Registrar Estudiante</a:t>
            </a:r>
            <a:endParaRPr lang="es-ES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Actor: Administrador</a:t>
            </a:r>
          </a:p>
          <a:p>
            <a:pPr>
              <a:buNone/>
            </a:pP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Descripción:</a:t>
            </a:r>
            <a:b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s-ES" sz="3600" dirty="0">
                <a:latin typeface="Arial" panose="020B0604020202020204" pitchFamily="34" charset="0"/>
                <a:cs typeface="Arial" panose="020B0604020202020204" pitchFamily="34" charset="0"/>
              </a:rPr>
              <a:t>Permite registrar la información de un estudiante dentro del sistema académico.</a:t>
            </a:r>
          </a:p>
        </p:txBody>
      </p:sp>
    </p:spTree>
    <p:extLst>
      <p:ext uri="{BB962C8B-B14F-4D97-AF65-F5344CB8AC3E}">
        <p14:creationId xmlns:p14="http://schemas.microsoft.com/office/powerpoint/2010/main" val="17057363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7051B7B-2DD6-FA22-DB95-C7322C6BB79D}"/>
              </a:ext>
            </a:extLst>
          </p:cNvPr>
          <p:cNvSpPr txBox="1"/>
          <p:nvPr/>
        </p:nvSpPr>
        <p:spPr>
          <a:xfrm>
            <a:off x="1983545" y="1214067"/>
            <a:ext cx="610537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Flujo del Caso de Uso</a:t>
            </a:r>
          </a:p>
          <a:p>
            <a:pPr algn="ctr">
              <a:buNone/>
            </a:pPr>
            <a:endParaRPr lang="es-ES" sz="32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Flujo principal: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Administrador inicia sesión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Selecciona registrar estudiante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Ingresa los datos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 sistema guarda la información</a:t>
            </a:r>
          </a:p>
          <a:p>
            <a:pPr>
              <a:buFont typeface="+mj-lt"/>
              <a:buAutoNum type="arabicPeriod"/>
            </a:pPr>
            <a:r>
              <a:rPr lang="es-ES" sz="3200" dirty="0">
                <a:latin typeface="Arial" panose="020B0604020202020204" pitchFamily="34" charset="0"/>
                <a:cs typeface="Arial" panose="020B0604020202020204" pitchFamily="34" charset="0"/>
              </a:rPr>
              <a:t>El sistema confirma el registro</a:t>
            </a:r>
          </a:p>
        </p:txBody>
      </p:sp>
    </p:spTree>
    <p:extLst>
      <p:ext uri="{BB962C8B-B14F-4D97-AF65-F5344CB8AC3E}">
        <p14:creationId xmlns:p14="http://schemas.microsoft.com/office/powerpoint/2010/main" val="3177229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2AD8BF9-66B5-24F9-D319-EAD5B943DB19}"/>
              </a:ext>
            </a:extLst>
          </p:cNvPr>
          <p:cNvSpPr txBox="1"/>
          <p:nvPr/>
        </p:nvSpPr>
        <p:spPr>
          <a:xfrm>
            <a:off x="534571" y="1645810"/>
            <a:ext cx="1022721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ES" sz="40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Conclusión</a:t>
            </a:r>
          </a:p>
          <a:p>
            <a:pPr algn="ctr">
              <a:buNone/>
            </a:pPr>
            <a:endParaRPr lang="es-ES" sz="4000" b="1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None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Los casos de uso en UML permiten: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Comprender las funciones del sistema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Analizar la interacción con los usuarios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4000" dirty="0">
                <a:latin typeface="Arial" panose="020B0604020202020204" pitchFamily="34" charset="0"/>
                <a:cs typeface="Arial" panose="020B0604020202020204" pitchFamily="34" charset="0"/>
              </a:rPr>
              <a:t>Diseñar sistemas organizados y eficientes</a:t>
            </a:r>
          </a:p>
        </p:txBody>
      </p:sp>
    </p:spTree>
    <p:extLst>
      <p:ext uri="{BB962C8B-B14F-4D97-AF65-F5344CB8AC3E}">
        <p14:creationId xmlns:p14="http://schemas.microsoft.com/office/powerpoint/2010/main" val="2267541231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34</TotalTime>
  <Words>404</Words>
  <Application>Microsoft Office PowerPoint</Application>
  <PresentationFormat>Panorámica</PresentationFormat>
  <Paragraphs>83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Sector</vt:lpstr>
      <vt:lpstr>Actividad 5: Casos de Uso en UML Casos de uso Factores del sistema Flujos alternos Descripción de un caso de uso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</dc:creator>
  <cp:lastModifiedBy>Alumno</cp:lastModifiedBy>
  <cp:revision>1</cp:revision>
  <dcterms:created xsi:type="dcterms:W3CDTF">2026-03-09T19:48:06Z</dcterms:created>
  <dcterms:modified xsi:type="dcterms:W3CDTF">2026-03-09T20:25:07Z</dcterms:modified>
</cp:coreProperties>
</file>