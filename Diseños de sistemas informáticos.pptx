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D61F9E33-44F0-4C9F-9914-71F07BF52065}" type="datetimeFigureOut">
              <a:rPr lang="es-SV" smtClean="0"/>
              <a:t>17/2/2026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DFB502FD-070B-412D-AE4B-F558A6A8C96A}" type="slidenum">
              <a:rPr lang="es-SV" smtClean="0"/>
              <a:t>‹Nº›</a:t>
            </a:fld>
            <a:endParaRPr lang="es-SV"/>
          </a:p>
        </p:txBody>
      </p:sp>
    </p:spTree>
    <p:extLst>
      <p:ext uri="{BB962C8B-B14F-4D97-AF65-F5344CB8AC3E}">
        <p14:creationId xmlns:p14="http://schemas.microsoft.com/office/powerpoint/2010/main" val="623824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61F9E33-44F0-4C9F-9914-71F07BF52065}" type="datetimeFigureOut">
              <a:rPr lang="es-SV" smtClean="0"/>
              <a:t>17/2/2026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DFB502FD-070B-412D-AE4B-F558A6A8C96A}" type="slidenum">
              <a:rPr lang="es-SV" smtClean="0"/>
              <a:t>‹Nº›</a:t>
            </a:fld>
            <a:endParaRPr lang="es-SV"/>
          </a:p>
        </p:txBody>
      </p:sp>
    </p:spTree>
    <p:extLst>
      <p:ext uri="{BB962C8B-B14F-4D97-AF65-F5344CB8AC3E}">
        <p14:creationId xmlns:p14="http://schemas.microsoft.com/office/powerpoint/2010/main" val="36576353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D61F9E33-44F0-4C9F-9914-71F07BF52065}" type="datetimeFigureOut">
              <a:rPr lang="es-SV" smtClean="0"/>
              <a:t>17/2/2026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DFB502FD-070B-412D-AE4B-F558A6A8C96A}" type="slidenum">
              <a:rPr lang="es-SV" smtClean="0"/>
              <a:t>‹Nº›</a:t>
            </a:fld>
            <a:endParaRPr lang="es-SV"/>
          </a:p>
        </p:txBody>
      </p:sp>
    </p:spTree>
    <p:extLst>
      <p:ext uri="{BB962C8B-B14F-4D97-AF65-F5344CB8AC3E}">
        <p14:creationId xmlns:p14="http://schemas.microsoft.com/office/powerpoint/2010/main" val="4111588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D61F9E33-44F0-4C9F-9914-71F07BF52065}" type="datetimeFigureOut">
              <a:rPr lang="es-SV" smtClean="0"/>
              <a:t>17/2/2026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DFB502FD-070B-412D-AE4B-F558A6A8C96A}" type="slidenum">
              <a:rPr lang="es-SV" smtClean="0"/>
              <a:t>‹Nº›</a:t>
            </a:fld>
            <a:endParaRPr lang="es-SV"/>
          </a:p>
        </p:txBody>
      </p:sp>
    </p:spTree>
    <p:extLst>
      <p:ext uri="{BB962C8B-B14F-4D97-AF65-F5344CB8AC3E}">
        <p14:creationId xmlns:p14="http://schemas.microsoft.com/office/powerpoint/2010/main" val="255550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D61F9E33-44F0-4C9F-9914-71F07BF52065}" type="datetimeFigureOut">
              <a:rPr lang="es-SV" smtClean="0"/>
              <a:t>17/2/2026</a:t>
            </a:fld>
            <a:endParaRPr lang="es-SV"/>
          </a:p>
        </p:txBody>
      </p:sp>
      <p:sp>
        <p:nvSpPr>
          <p:cNvPr id="8" name="Footer Placeholder 7"/>
          <p:cNvSpPr>
            <a:spLocks noGrp="1"/>
          </p:cNvSpPr>
          <p:nvPr>
            <p:ph type="ftr" sz="quarter" idx="11"/>
          </p:nvPr>
        </p:nvSpPr>
        <p:spPr/>
        <p:txBody>
          <a:bodyPr/>
          <a:lstStyle/>
          <a:p>
            <a:endParaRPr lang="es-SV"/>
          </a:p>
        </p:txBody>
      </p:sp>
      <p:sp>
        <p:nvSpPr>
          <p:cNvPr id="9" name="Slide Number Placeholder 8"/>
          <p:cNvSpPr>
            <a:spLocks noGrp="1"/>
          </p:cNvSpPr>
          <p:nvPr>
            <p:ph type="sldNum" sz="quarter" idx="12"/>
          </p:nvPr>
        </p:nvSpPr>
        <p:spPr/>
        <p:txBody>
          <a:bodyPr/>
          <a:lstStyle/>
          <a:p>
            <a:fld id="{DFB502FD-070B-412D-AE4B-F558A6A8C96A}" type="slidenum">
              <a:rPr lang="es-SV" smtClean="0"/>
              <a:t>‹Nº›</a:t>
            </a:fld>
            <a:endParaRPr lang="es-SV"/>
          </a:p>
        </p:txBody>
      </p:sp>
    </p:spTree>
    <p:extLst>
      <p:ext uri="{BB962C8B-B14F-4D97-AF65-F5344CB8AC3E}">
        <p14:creationId xmlns:p14="http://schemas.microsoft.com/office/powerpoint/2010/main" val="3343565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D61F9E33-44F0-4C9F-9914-71F07BF52065}" type="datetimeFigureOut">
              <a:rPr lang="es-SV" smtClean="0"/>
              <a:t>17/2/2026</a:t>
            </a:fld>
            <a:endParaRPr lang="es-SV"/>
          </a:p>
        </p:txBody>
      </p:sp>
      <p:sp>
        <p:nvSpPr>
          <p:cNvPr id="4" name="Footer Placeholder 3"/>
          <p:cNvSpPr>
            <a:spLocks noGrp="1"/>
          </p:cNvSpPr>
          <p:nvPr>
            <p:ph type="ftr" sz="quarter" idx="11"/>
          </p:nvPr>
        </p:nvSpPr>
        <p:spPr/>
        <p:txBody>
          <a:bodyPr/>
          <a:lstStyle/>
          <a:p>
            <a:endParaRPr lang="es-SV"/>
          </a:p>
        </p:txBody>
      </p:sp>
      <p:sp>
        <p:nvSpPr>
          <p:cNvPr id="5" name="Slide Number Placeholder 4"/>
          <p:cNvSpPr>
            <a:spLocks noGrp="1"/>
          </p:cNvSpPr>
          <p:nvPr>
            <p:ph type="sldNum" sz="quarter" idx="12"/>
          </p:nvPr>
        </p:nvSpPr>
        <p:spPr/>
        <p:txBody>
          <a:bodyPr/>
          <a:lstStyle/>
          <a:p>
            <a:fld id="{DFB502FD-070B-412D-AE4B-F558A6A8C96A}" type="slidenum">
              <a:rPr lang="es-SV" smtClean="0"/>
              <a:t>‹Nº›</a:t>
            </a:fld>
            <a:endParaRPr lang="es-SV"/>
          </a:p>
        </p:txBody>
      </p:sp>
    </p:spTree>
    <p:extLst>
      <p:ext uri="{BB962C8B-B14F-4D97-AF65-F5344CB8AC3E}">
        <p14:creationId xmlns:p14="http://schemas.microsoft.com/office/powerpoint/2010/main" val="3828416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1F9E33-44F0-4C9F-9914-71F07BF52065}" type="datetimeFigureOut">
              <a:rPr lang="es-SV" smtClean="0"/>
              <a:t>17/2/2026</a:t>
            </a:fld>
            <a:endParaRPr lang="es-SV"/>
          </a:p>
        </p:txBody>
      </p:sp>
      <p:sp>
        <p:nvSpPr>
          <p:cNvPr id="3" name="Footer Placeholder 2"/>
          <p:cNvSpPr>
            <a:spLocks noGrp="1"/>
          </p:cNvSpPr>
          <p:nvPr>
            <p:ph type="ftr" sz="quarter" idx="11"/>
          </p:nvPr>
        </p:nvSpPr>
        <p:spPr/>
        <p:txBody>
          <a:bodyPr/>
          <a:lstStyle/>
          <a:p>
            <a:endParaRPr lang="es-SV"/>
          </a:p>
        </p:txBody>
      </p:sp>
      <p:sp>
        <p:nvSpPr>
          <p:cNvPr id="4" name="Slide Number Placeholder 3"/>
          <p:cNvSpPr>
            <a:spLocks noGrp="1"/>
          </p:cNvSpPr>
          <p:nvPr>
            <p:ph type="sldNum" sz="quarter" idx="12"/>
          </p:nvPr>
        </p:nvSpPr>
        <p:spPr/>
        <p:txBody>
          <a:bodyPr/>
          <a:lstStyle/>
          <a:p>
            <a:fld id="{DFB502FD-070B-412D-AE4B-F558A6A8C96A}" type="slidenum">
              <a:rPr lang="es-SV" smtClean="0"/>
              <a:t>‹Nº›</a:t>
            </a:fld>
            <a:endParaRPr lang="es-SV"/>
          </a:p>
        </p:txBody>
      </p:sp>
    </p:spTree>
    <p:extLst>
      <p:ext uri="{BB962C8B-B14F-4D97-AF65-F5344CB8AC3E}">
        <p14:creationId xmlns:p14="http://schemas.microsoft.com/office/powerpoint/2010/main" val="29492234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61F9E33-44F0-4C9F-9914-71F07BF52065}" type="datetimeFigureOut">
              <a:rPr lang="es-SV" smtClean="0"/>
              <a:t>17/2/2026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DFB502FD-070B-412D-AE4B-F558A6A8C96A}" type="slidenum">
              <a:rPr lang="es-SV" smtClean="0"/>
              <a:t>‹Nº›</a:t>
            </a:fld>
            <a:endParaRPr lang="es-SV"/>
          </a:p>
        </p:txBody>
      </p:sp>
    </p:spTree>
    <p:extLst>
      <p:ext uri="{BB962C8B-B14F-4D97-AF65-F5344CB8AC3E}">
        <p14:creationId xmlns:p14="http://schemas.microsoft.com/office/powerpoint/2010/main" val="24016910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D61F9E33-44F0-4C9F-9914-71F07BF52065}" type="datetimeFigureOut">
              <a:rPr lang="es-SV" smtClean="0"/>
              <a:t>17/2/2026</a:t>
            </a:fld>
            <a:endParaRPr lang="es-SV"/>
          </a:p>
        </p:txBody>
      </p:sp>
      <p:sp>
        <p:nvSpPr>
          <p:cNvPr id="6" name="Footer Placeholder 5"/>
          <p:cNvSpPr>
            <a:spLocks noGrp="1"/>
          </p:cNvSpPr>
          <p:nvPr>
            <p:ph type="ftr" sz="quarter" idx="11"/>
          </p:nvPr>
        </p:nvSpPr>
        <p:spPr/>
        <p:txBody>
          <a:bodyPr/>
          <a:lstStyle/>
          <a:p>
            <a:endParaRPr lang="es-SV"/>
          </a:p>
        </p:txBody>
      </p:sp>
      <p:sp>
        <p:nvSpPr>
          <p:cNvPr id="7" name="Slide Number Placeholder 6"/>
          <p:cNvSpPr>
            <a:spLocks noGrp="1"/>
          </p:cNvSpPr>
          <p:nvPr>
            <p:ph type="sldNum" sz="quarter" idx="12"/>
          </p:nvPr>
        </p:nvSpPr>
        <p:spPr/>
        <p:txBody>
          <a:bodyPr/>
          <a:lstStyle/>
          <a:p>
            <a:fld id="{DFB502FD-070B-412D-AE4B-F558A6A8C96A}" type="slidenum">
              <a:rPr lang="es-SV" smtClean="0"/>
              <a:t>‹Nº›</a:t>
            </a:fld>
            <a:endParaRPr lang="es-SV"/>
          </a:p>
        </p:txBody>
      </p:sp>
    </p:spTree>
    <p:extLst>
      <p:ext uri="{BB962C8B-B14F-4D97-AF65-F5344CB8AC3E}">
        <p14:creationId xmlns:p14="http://schemas.microsoft.com/office/powerpoint/2010/main" val="34699930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D61F9E33-44F0-4C9F-9914-71F07BF52065}" type="datetimeFigureOut">
              <a:rPr lang="es-SV" smtClean="0"/>
              <a:t>17/2/2026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DFB502FD-070B-412D-AE4B-F558A6A8C96A}" type="slidenum">
              <a:rPr lang="es-SV" smtClean="0"/>
              <a:t>‹Nº›</a:t>
            </a:fld>
            <a:endParaRPr lang="es-SV"/>
          </a:p>
        </p:txBody>
      </p:sp>
    </p:spTree>
    <p:extLst>
      <p:ext uri="{BB962C8B-B14F-4D97-AF65-F5344CB8AC3E}">
        <p14:creationId xmlns:p14="http://schemas.microsoft.com/office/powerpoint/2010/main" val="27380949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D61F9E33-44F0-4C9F-9914-71F07BF52065}" type="datetimeFigureOut">
              <a:rPr lang="es-SV" smtClean="0"/>
              <a:t>17/2/2026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DFB502FD-070B-412D-AE4B-F558A6A8C96A}" type="slidenum">
              <a:rPr lang="es-SV" smtClean="0"/>
              <a:t>‹Nº›</a:t>
            </a:fld>
            <a:endParaRPr lang="es-SV"/>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9151271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D61F9E33-44F0-4C9F-9914-71F07BF52065}" type="datetimeFigureOut">
              <a:rPr lang="es-SV" smtClean="0"/>
              <a:t>17/2/2026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DFB502FD-070B-412D-AE4B-F558A6A8C96A}" type="slidenum">
              <a:rPr lang="es-SV" smtClean="0"/>
              <a:t>‹Nº›</a:t>
            </a:fld>
            <a:endParaRPr lang="es-SV"/>
          </a:p>
        </p:txBody>
      </p:sp>
    </p:spTree>
    <p:extLst>
      <p:ext uri="{BB962C8B-B14F-4D97-AF65-F5344CB8AC3E}">
        <p14:creationId xmlns:p14="http://schemas.microsoft.com/office/powerpoint/2010/main" val="34691826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D61F9E33-44F0-4C9F-9914-71F07BF52065}" type="datetimeFigureOut">
              <a:rPr lang="es-SV" smtClean="0"/>
              <a:t>17/2/2026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DFB502FD-070B-412D-AE4B-F558A6A8C96A}" type="slidenum">
              <a:rPr lang="es-SV" smtClean="0"/>
              <a:t>‹Nº›</a:t>
            </a:fld>
            <a:endParaRPr lang="es-SV"/>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3224834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D61F9E33-44F0-4C9F-9914-71F07BF52065}" type="datetimeFigureOut">
              <a:rPr lang="es-SV" smtClean="0"/>
              <a:t>17/2/2026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DFB502FD-070B-412D-AE4B-F558A6A8C96A}" type="slidenum">
              <a:rPr lang="es-SV" smtClean="0"/>
              <a:t>‹Nº›</a:t>
            </a:fld>
            <a:endParaRPr lang="es-SV"/>
          </a:p>
        </p:txBody>
      </p:sp>
    </p:spTree>
    <p:extLst>
      <p:ext uri="{BB962C8B-B14F-4D97-AF65-F5344CB8AC3E}">
        <p14:creationId xmlns:p14="http://schemas.microsoft.com/office/powerpoint/2010/main" val="427394759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61F9E33-44F0-4C9F-9914-71F07BF52065}" type="datetimeFigureOut">
              <a:rPr lang="es-SV" smtClean="0"/>
              <a:t>17/2/2026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DFB502FD-070B-412D-AE4B-F558A6A8C96A}" type="slidenum">
              <a:rPr lang="es-SV" smtClean="0"/>
              <a:t>‹Nº›</a:t>
            </a:fld>
            <a:endParaRPr lang="es-SV"/>
          </a:p>
        </p:txBody>
      </p:sp>
    </p:spTree>
    <p:extLst>
      <p:ext uri="{BB962C8B-B14F-4D97-AF65-F5344CB8AC3E}">
        <p14:creationId xmlns:p14="http://schemas.microsoft.com/office/powerpoint/2010/main" val="1351064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61F9E33-44F0-4C9F-9914-71F07BF52065}" type="datetimeFigureOut">
              <a:rPr lang="es-SV" smtClean="0"/>
              <a:t>17/2/2026</a:t>
            </a:fld>
            <a:endParaRPr lang="es-SV"/>
          </a:p>
        </p:txBody>
      </p:sp>
      <p:sp>
        <p:nvSpPr>
          <p:cNvPr id="5" name="Footer Placeholder 4"/>
          <p:cNvSpPr>
            <a:spLocks noGrp="1"/>
          </p:cNvSpPr>
          <p:nvPr>
            <p:ph type="ftr" sz="quarter" idx="11"/>
          </p:nvPr>
        </p:nvSpPr>
        <p:spPr/>
        <p:txBody>
          <a:bodyPr/>
          <a:lstStyle/>
          <a:p>
            <a:endParaRPr lang="es-SV"/>
          </a:p>
        </p:txBody>
      </p:sp>
      <p:sp>
        <p:nvSpPr>
          <p:cNvPr id="6" name="Slide Number Placeholder 5"/>
          <p:cNvSpPr>
            <a:spLocks noGrp="1"/>
          </p:cNvSpPr>
          <p:nvPr>
            <p:ph type="sldNum" sz="quarter" idx="12"/>
          </p:nvPr>
        </p:nvSpPr>
        <p:spPr/>
        <p:txBody>
          <a:bodyPr/>
          <a:lstStyle/>
          <a:p>
            <a:fld id="{DFB502FD-070B-412D-AE4B-F558A6A8C96A}" type="slidenum">
              <a:rPr lang="es-SV" smtClean="0"/>
              <a:t>‹Nº›</a:t>
            </a:fld>
            <a:endParaRPr lang="es-SV"/>
          </a:p>
        </p:txBody>
      </p:sp>
    </p:spTree>
    <p:extLst>
      <p:ext uri="{BB962C8B-B14F-4D97-AF65-F5344CB8AC3E}">
        <p14:creationId xmlns:p14="http://schemas.microsoft.com/office/powerpoint/2010/main" val="1120497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61F9E33-44F0-4C9F-9914-71F07BF52065}" type="datetimeFigureOut">
              <a:rPr lang="es-SV" smtClean="0"/>
              <a:t>17/2/2026</a:t>
            </a:fld>
            <a:endParaRPr lang="es-SV"/>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SV"/>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FB502FD-070B-412D-AE4B-F558A6A8C96A}" type="slidenum">
              <a:rPr lang="es-SV" smtClean="0"/>
              <a:t>‹Nº›</a:t>
            </a:fld>
            <a:endParaRPr lang="es-SV"/>
          </a:p>
        </p:txBody>
      </p:sp>
    </p:spTree>
    <p:extLst>
      <p:ext uri="{BB962C8B-B14F-4D97-AF65-F5344CB8AC3E}">
        <p14:creationId xmlns:p14="http://schemas.microsoft.com/office/powerpoint/2010/main" val="3475311914"/>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concepto.de/dato/" TargetMode="External"/><Relationship Id="rId2" Type="http://schemas.openxmlformats.org/officeDocument/2006/relationships/hyperlink" Target="https://concepto.de/que-es-un-conjunto/" TargetMode="Externa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hyperlink" Target="https://concepto.de/informacion/"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B061D0-1A01-4FB0-ABFA-99CD0A3AE6EB}"/>
              </a:ext>
            </a:extLst>
          </p:cNvPr>
          <p:cNvSpPr>
            <a:spLocks noGrp="1"/>
          </p:cNvSpPr>
          <p:nvPr>
            <p:ph type="ctrTitle"/>
          </p:nvPr>
        </p:nvSpPr>
        <p:spPr>
          <a:xfrm>
            <a:off x="689112" y="0"/>
            <a:ext cx="7977810" cy="2529368"/>
          </a:xfrm>
        </p:spPr>
        <p:txBody>
          <a:bodyPr/>
          <a:lstStyle/>
          <a:p>
            <a:pPr algn="ctr"/>
            <a:r>
              <a:rPr lang="es-SV" sz="4800" dirty="0">
                <a:latin typeface="Algerian" panose="04020705040A02060702" pitchFamily="82" charset="0"/>
              </a:rPr>
              <a:t>Diseños de sistemas informáticos</a:t>
            </a:r>
          </a:p>
        </p:txBody>
      </p:sp>
      <p:pic>
        <p:nvPicPr>
          <p:cNvPr id="4" name="Imagen 3">
            <a:extLst>
              <a:ext uri="{FF2B5EF4-FFF2-40B4-BE49-F238E27FC236}">
                <a16:creationId xmlns:a16="http://schemas.microsoft.com/office/drawing/2014/main" id="{A2D24E75-5E68-4539-88E0-81ABA2C3357F}"/>
              </a:ext>
            </a:extLst>
          </p:cNvPr>
          <p:cNvPicPr>
            <a:picLocks noChangeAspect="1"/>
          </p:cNvPicPr>
          <p:nvPr/>
        </p:nvPicPr>
        <p:blipFill>
          <a:blip r:embed="rId2"/>
          <a:stretch>
            <a:fillRect/>
          </a:stretch>
        </p:blipFill>
        <p:spPr>
          <a:xfrm>
            <a:off x="3117361" y="3194490"/>
            <a:ext cx="4101646" cy="3170422"/>
          </a:xfrm>
          <a:prstGeom prst="rect">
            <a:avLst/>
          </a:prstGeom>
        </p:spPr>
      </p:pic>
    </p:spTree>
    <p:extLst>
      <p:ext uri="{BB962C8B-B14F-4D97-AF65-F5344CB8AC3E}">
        <p14:creationId xmlns:p14="http://schemas.microsoft.com/office/powerpoint/2010/main" val="1491715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38A73BB-F801-4F40-AF18-78C56BBAA948}"/>
              </a:ext>
            </a:extLst>
          </p:cNvPr>
          <p:cNvSpPr txBox="1"/>
          <p:nvPr/>
        </p:nvSpPr>
        <p:spPr>
          <a:xfrm>
            <a:off x="583096" y="848139"/>
            <a:ext cx="8507895" cy="4154984"/>
          </a:xfrm>
          <a:prstGeom prst="rect">
            <a:avLst/>
          </a:prstGeom>
          <a:noFill/>
        </p:spPr>
        <p:txBody>
          <a:bodyPr wrap="square" rtlCol="0">
            <a:spAutoFit/>
          </a:bodyPr>
          <a:lstStyle/>
          <a:p>
            <a:r>
              <a:rPr lang="es-SV" sz="2800" b="1" dirty="0">
                <a:solidFill>
                  <a:srgbClr val="FF0000"/>
                </a:solidFill>
                <a:latin typeface="Arial" panose="020B0604020202020204" pitchFamily="34" charset="0"/>
                <a:cs typeface="Arial" panose="020B0604020202020204" pitchFamily="34" charset="0"/>
              </a:rPr>
              <a:t>Objetivo:  </a:t>
            </a:r>
            <a:r>
              <a:rPr lang="es-SV" sz="2400" dirty="0">
                <a:latin typeface="Arial" panose="020B0604020202020204" pitchFamily="34" charset="0"/>
                <a:cs typeface="Arial" panose="020B0604020202020204" pitchFamily="34" charset="0"/>
              </a:rPr>
              <a:t>Los sistemas mecanizados no cumplen con la funciones requeridas por el usuario debido a que no presentan aspecto de rendimiento, protección contra errores humanos o daños involuntarios lo que </a:t>
            </a:r>
            <a:r>
              <a:rPr lang="es-SV" sz="2400" dirty="0" err="1">
                <a:latin typeface="Arial" panose="020B0604020202020204" pitchFamily="34" charset="0"/>
                <a:cs typeface="Arial" panose="020B0604020202020204" pitchFamily="34" charset="0"/>
              </a:rPr>
              <a:t>urigina</a:t>
            </a:r>
            <a:r>
              <a:rPr lang="es-SV" sz="2400" dirty="0">
                <a:latin typeface="Arial" panose="020B0604020202020204" pitchFamily="34" charset="0"/>
                <a:cs typeface="Arial" panose="020B0604020202020204" pitchFamily="34" charset="0"/>
              </a:rPr>
              <a:t> sistemas de daño rendimiento insaculación del usuario alto costo de modificación de los sistemas y hasta incumplimiento ilegales </a:t>
            </a:r>
          </a:p>
          <a:p>
            <a:endParaRPr lang="es-SV" sz="2000" dirty="0">
              <a:latin typeface="Arial" panose="020B0604020202020204" pitchFamily="34" charset="0"/>
              <a:cs typeface="Arial" panose="020B0604020202020204" pitchFamily="34" charset="0"/>
            </a:endParaRPr>
          </a:p>
          <a:p>
            <a:endParaRPr lang="es-SV" sz="2000" b="1" dirty="0">
              <a:latin typeface="Arial" panose="020B0604020202020204" pitchFamily="34" charset="0"/>
              <a:cs typeface="Arial" panose="020B0604020202020204" pitchFamily="34" charset="0"/>
            </a:endParaRPr>
          </a:p>
          <a:p>
            <a:r>
              <a:rPr lang="es-SV" sz="2800" b="1" dirty="0">
                <a:solidFill>
                  <a:srgbClr val="FF0000"/>
                </a:solidFill>
                <a:latin typeface="Arial" panose="020B0604020202020204" pitchFamily="34" charset="0"/>
                <a:cs typeface="Arial" panose="020B0604020202020204" pitchFamily="34" charset="0"/>
              </a:rPr>
              <a:t>Definición y objetivo:  </a:t>
            </a:r>
            <a:r>
              <a:rPr lang="es-SV" sz="2400" dirty="0">
                <a:latin typeface="Arial" panose="020B0604020202020204" pitchFamily="34" charset="0"/>
                <a:cs typeface="Arial" panose="020B0604020202020204" pitchFamily="34" charset="0"/>
              </a:rPr>
              <a:t>Es la etapa que determina como se desarrollara la solución, enfocándose en la estructura, el flujo de datos y el comportamiento del sistema.</a:t>
            </a:r>
            <a:endParaRPr lang="es-SV"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02070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D91E0DC-6CD7-4335-B609-04670B62D5AE}"/>
              </a:ext>
            </a:extLst>
          </p:cNvPr>
          <p:cNvSpPr txBox="1"/>
          <p:nvPr/>
        </p:nvSpPr>
        <p:spPr>
          <a:xfrm>
            <a:off x="119271" y="569843"/>
            <a:ext cx="6573077" cy="6647974"/>
          </a:xfrm>
          <a:prstGeom prst="rect">
            <a:avLst/>
          </a:prstGeom>
          <a:noFill/>
        </p:spPr>
        <p:txBody>
          <a:bodyPr wrap="square">
            <a:spAutoFit/>
          </a:bodyPr>
          <a:lstStyle/>
          <a:p>
            <a:pPr algn="ctr"/>
            <a:r>
              <a:rPr lang="es-ES" sz="2800" b="1" dirty="0">
                <a:solidFill>
                  <a:srgbClr val="FF0000"/>
                </a:solidFill>
              </a:rPr>
              <a:t>¿Qué es un sistema informático?</a:t>
            </a:r>
          </a:p>
          <a:p>
            <a:endParaRPr lang="es-ES" sz="2800" dirty="0"/>
          </a:p>
          <a:p>
            <a:r>
              <a:rPr lang="es-ES" sz="2800" dirty="0"/>
              <a:t>El diseño de sistemas informáticos es el proceso técnico de definir la arquitectura, componentes, módulos, interfaces y datos de un sistema para satisfacer requisitos específicos, transformando necesidades de usuario en planos de ingeniería</a:t>
            </a:r>
            <a:r>
              <a:rPr lang="es-ES" sz="2800" b="0" i="0" dirty="0">
                <a:effectLst/>
                <a:latin typeface="Google Sans"/>
              </a:rPr>
              <a:t>. Involucra tanto el hardware como el software, enfocándose en la escalabilidad, el rendimiento y la experiencia del usuario. </a:t>
            </a:r>
          </a:p>
          <a:p>
            <a:endParaRPr lang="es-ES" dirty="0">
              <a:latin typeface="Google Sans"/>
            </a:endParaRPr>
          </a:p>
          <a:p>
            <a:endParaRPr lang="es-ES" dirty="0">
              <a:solidFill>
                <a:srgbClr val="E6E8F0"/>
              </a:solidFill>
              <a:latin typeface="Google Sans"/>
            </a:endParaRPr>
          </a:p>
          <a:p>
            <a:endParaRPr lang="es-ES" dirty="0">
              <a:solidFill>
                <a:srgbClr val="E6E8F0"/>
              </a:solidFill>
              <a:latin typeface="Google Sans"/>
            </a:endParaRPr>
          </a:p>
          <a:p>
            <a:endParaRPr lang="es-ES" dirty="0">
              <a:solidFill>
                <a:srgbClr val="E6E8F0"/>
              </a:solidFill>
              <a:latin typeface="Google Sans"/>
            </a:endParaRPr>
          </a:p>
          <a:p>
            <a:endParaRPr lang="es-SV" dirty="0"/>
          </a:p>
        </p:txBody>
      </p:sp>
      <p:pic>
        <p:nvPicPr>
          <p:cNvPr id="8" name="Imagen 7">
            <a:extLst>
              <a:ext uri="{FF2B5EF4-FFF2-40B4-BE49-F238E27FC236}">
                <a16:creationId xmlns:a16="http://schemas.microsoft.com/office/drawing/2014/main" id="{24056EE4-B04A-40F8-BC0B-C9DB57D50441}"/>
              </a:ext>
            </a:extLst>
          </p:cNvPr>
          <p:cNvPicPr>
            <a:picLocks noChangeAspect="1"/>
          </p:cNvPicPr>
          <p:nvPr/>
        </p:nvPicPr>
        <p:blipFill>
          <a:blip r:embed="rId2"/>
          <a:stretch>
            <a:fillRect/>
          </a:stretch>
        </p:blipFill>
        <p:spPr>
          <a:xfrm>
            <a:off x="7548769" y="1447799"/>
            <a:ext cx="4139648" cy="4873487"/>
          </a:xfrm>
          <a:prstGeom prst="rect">
            <a:avLst/>
          </a:prstGeom>
        </p:spPr>
      </p:pic>
    </p:spTree>
    <p:extLst>
      <p:ext uri="{BB962C8B-B14F-4D97-AF65-F5344CB8AC3E}">
        <p14:creationId xmlns:p14="http://schemas.microsoft.com/office/powerpoint/2010/main" val="11804611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CBECB56C-15E0-4401-9D2B-C73DA2C1B2CA}"/>
              </a:ext>
            </a:extLst>
          </p:cNvPr>
          <p:cNvSpPr txBox="1"/>
          <p:nvPr/>
        </p:nvSpPr>
        <p:spPr>
          <a:xfrm>
            <a:off x="483704" y="616949"/>
            <a:ext cx="6109252" cy="5262979"/>
          </a:xfrm>
          <a:prstGeom prst="rect">
            <a:avLst/>
          </a:prstGeom>
          <a:noFill/>
        </p:spPr>
        <p:txBody>
          <a:bodyPr wrap="square">
            <a:spAutoFit/>
          </a:bodyPr>
          <a:lstStyle/>
          <a:p>
            <a:pPr algn="ctr"/>
            <a:r>
              <a:rPr lang="es-ES" sz="2400" b="1" i="0" dirty="0">
                <a:solidFill>
                  <a:srgbClr val="FF0000"/>
                </a:solidFill>
                <a:effectLst/>
                <a:latin typeface="Montserrat"/>
              </a:rPr>
              <a:t>¿Qué es un sistema de información?</a:t>
            </a:r>
          </a:p>
          <a:p>
            <a:pPr algn="l"/>
            <a:r>
              <a:rPr lang="es-ES" sz="2400" b="0" i="0" dirty="0">
                <a:solidFill>
                  <a:srgbClr val="000000"/>
                </a:solidFill>
                <a:effectLst/>
                <a:latin typeface="Montserrat"/>
              </a:rPr>
              <a:t>Un sistema de información </a:t>
            </a:r>
            <a:r>
              <a:rPr lang="es-ES" sz="2400" b="1" i="0" dirty="0">
                <a:solidFill>
                  <a:srgbClr val="000000"/>
                </a:solidFill>
                <a:effectLst/>
                <a:latin typeface="Montserrat"/>
              </a:rPr>
              <a:t>es un </a:t>
            </a:r>
            <a:r>
              <a:rPr lang="es-ES" sz="2400" b="1" i="0" u="none" strike="noStrike" dirty="0">
                <a:solidFill>
                  <a:srgbClr val="000000"/>
                </a:solidFill>
                <a:effectLst/>
                <a:latin typeface="Montserrat"/>
                <a:hlinkClick r:id="rId2"/>
              </a:rPr>
              <a:t>conjunto</a:t>
            </a:r>
            <a:r>
              <a:rPr lang="es-ES" sz="2400" b="1" i="0" dirty="0">
                <a:solidFill>
                  <a:srgbClr val="000000"/>
                </a:solidFill>
                <a:effectLst/>
                <a:latin typeface="Montserrat"/>
              </a:rPr>
              <a:t> ordenado de personas, procesos y herramientas cuyo fin es administrar </a:t>
            </a:r>
            <a:r>
              <a:rPr lang="es-ES" sz="2400" b="1" i="0" u="none" strike="noStrike" dirty="0">
                <a:solidFill>
                  <a:srgbClr val="000000"/>
                </a:solidFill>
                <a:effectLst/>
                <a:latin typeface="Montserrat"/>
                <a:hlinkClick r:id="rId3"/>
              </a:rPr>
              <a:t>datos</a:t>
            </a:r>
            <a:r>
              <a:rPr lang="es-ES" sz="2400" b="1" i="0" dirty="0">
                <a:solidFill>
                  <a:srgbClr val="000000"/>
                </a:solidFill>
                <a:effectLst/>
                <a:latin typeface="Montserrat"/>
              </a:rPr>
              <a:t> e </a:t>
            </a:r>
            <a:r>
              <a:rPr lang="es-ES" sz="2400" b="1" i="0" u="none" strike="noStrike" dirty="0">
                <a:solidFill>
                  <a:srgbClr val="000000"/>
                </a:solidFill>
                <a:effectLst/>
                <a:latin typeface="Montserrat"/>
                <a:hlinkClick r:id="rId4"/>
              </a:rPr>
              <a:t>información</a:t>
            </a:r>
            <a:r>
              <a:rPr lang="es-ES" sz="2400" b="0" i="0" dirty="0">
                <a:solidFill>
                  <a:srgbClr val="000000"/>
                </a:solidFill>
                <a:effectLst/>
                <a:latin typeface="Montserrat"/>
              </a:rPr>
              <a:t>, de manera que puedan ser recuperados y procesados fácil y rápidamente.</a:t>
            </a:r>
          </a:p>
          <a:p>
            <a:pPr algn="l"/>
            <a:r>
              <a:rPr lang="es-ES" sz="2400" b="0" i="0" dirty="0">
                <a:solidFill>
                  <a:srgbClr val="000000"/>
                </a:solidFill>
                <a:effectLst/>
                <a:latin typeface="Montserrat"/>
              </a:rPr>
              <a:t>Todo sistema de información se compone de </a:t>
            </a:r>
            <a:r>
              <a:rPr lang="es-ES" sz="2400" b="1" i="0" dirty="0">
                <a:solidFill>
                  <a:srgbClr val="000000"/>
                </a:solidFill>
                <a:effectLst/>
                <a:latin typeface="Montserrat"/>
              </a:rPr>
              <a:t>una serie de recursos interconectados y en interacción</a:t>
            </a:r>
            <a:r>
              <a:rPr lang="es-ES" sz="2400" b="0" i="0" dirty="0">
                <a:solidFill>
                  <a:srgbClr val="000000"/>
                </a:solidFill>
                <a:effectLst/>
                <a:latin typeface="Montserrat"/>
              </a:rPr>
              <a:t>, bien organizados y dispuestos del modo más conveniente en relación con un propósito informativo determinado, que puede ser recabar información personal, procesar estadísticas, organizar archivos, entre otros.</a:t>
            </a:r>
          </a:p>
        </p:txBody>
      </p:sp>
      <p:pic>
        <p:nvPicPr>
          <p:cNvPr id="5" name="Imagen 4">
            <a:extLst>
              <a:ext uri="{FF2B5EF4-FFF2-40B4-BE49-F238E27FC236}">
                <a16:creationId xmlns:a16="http://schemas.microsoft.com/office/drawing/2014/main" id="{C302D571-5AC5-48C5-B27D-5FC591A9C276}"/>
              </a:ext>
            </a:extLst>
          </p:cNvPr>
          <p:cNvPicPr>
            <a:picLocks noChangeAspect="1"/>
          </p:cNvPicPr>
          <p:nvPr/>
        </p:nvPicPr>
        <p:blipFill>
          <a:blip r:embed="rId5"/>
          <a:stretch>
            <a:fillRect/>
          </a:stretch>
        </p:blipFill>
        <p:spPr>
          <a:xfrm>
            <a:off x="7301947" y="1007165"/>
            <a:ext cx="4678017" cy="5262978"/>
          </a:xfrm>
          <a:prstGeom prst="rect">
            <a:avLst/>
          </a:prstGeom>
        </p:spPr>
      </p:pic>
    </p:spTree>
    <p:extLst>
      <p:ext uri="{BB962C8B-B14F-4D97-AF65-F5344CB8AC3E}">
        <p14:creationId xmlns:p14="http://schemas.microsoft.com/office/powerpoint/2010/main" val="17590059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D8C2767-4D11-4064-B0FB-8AE0E036A0BA}"/>
              </a:ext>
            </a:extLst>
          </p:cNvPr>
          <p:cNvSpPr txBox="1"/>
          <p:nvPr/>
        </p:nvSpPr>
        <p:spPr>
          <a:xfrm>
            <a:off x="450573" y="243512"/>
            <a:ext cx="10880035" cy="6370975"/>
          </a:xfrm>
          <a:prstGeom prst="rect">
            <a:avLst/>
          </a:prstGeom>
          <a:noFill/>
        </p:spPr>
        <p:txBody>
          <a:bodyPr wrap="square">
            <a:spAutoFit/>
          </a:bodyPr>
          <a:lstStyle/>
          <a:p>
            <a:pPr algn="ctr"/>
            <a:r>
              <a:rPr lang="es-ES" sz="2400" b="1" i="0" dirty="0">
                <a:solidFill>
                  <a:srgbClr val="FF0000"/>
                </a:solidFill>
                <a:effectLst/>
                <a:latin typeface="Montserrat"/>
              </a:rPr>
              <a:t>Características de un sistema de información</a:t>
            </a:r>
          </a:p>
          <a:p>
            <a:pPr algn="l"/>
            <a:r>
              <a:rPr lang="es-ES" sz="2400" b="0" i="0" dirty="0">
                <a:solidFill>
                  <a:srgbClr val="000000"/>
                </a:solidFill>
                <a:effectLst/>
                <a:latin typeface="Montserrat"/>
              </a:rPr>
              <a:t>Un sistema de información presenta las siguientes características:</a:t>
            </a:r>
          </a:p>
          <a:p>
            <a:pPr algn="l">
              <a:buFont typeface="Arial" panose="020B0604020202020204" pitchFamily="34" charset="0"/>
              <a:buChar char="•"/>
            </a:pPr>
            <a:r>
              <a:rPr lang="es-ES" sz="2400" b="1" i="0" dirty="0">
                <a:solidFill>
                  <a:srgbClr val="000000"/>
                </a:solidFill>
                <a:effectLst/>
                <a:latin typeface="Montserrat"/>
              </a:rPr>
              <a:t>Tiene una organización determinada</a:t>
            </a:r>
            <a:r>
              <a:rPr lang="es-ES" sz="2400" b="0" i="0" dirty="0">
                <a:solidFill>
                  <a:srgbClr val="000000"/>
                </a:solidFill>
                <a:effectLst/>
                <a:latin typeface="Montserrat"/>
              </a:rPr>
              <a:t>. Está organizado de forma tal que funciona correctamente para que la información esté bien clasificada y sea simple de comprender.</a:t>
            </a:r>
          </a:p>
          <a:p>
            <a:pPr algn="l">
              <a:buFont typeface="Arial" panose="020B0604020202020204" pitchFamily="34" charset="0"/>
              <a:buChar char="•"/>
            </a:pPr>
            <a:r>
              <a:rPr lang="es-ES" sz="2400" b="1" i="0" dirty="0">
                <a:solidFill>
                  <a:srgbClr val="000000"/>
                </a:solidFill>
                <a:effectLst/>
                <a:latin typeface="Montserrat"/>
              </a:rPr>
              <a:t>Está conformado por elementos informáticos y no informáticos</a:t>
            </a:r>
            <a:r>
              <a:rPr lang="es-ES" sz="2400" b="0" i="0" dirty="0">
                <a:solidFill>
                  <a:srgbClr val="000000"/>
                </a:solidFill>
                <a:effectLst/>
                <a:latin typeface="Montserrat"/>
              </a:rPr>
              <a:t>. Incluye computadoras, programas, aplicaciones y otros elementos tecnológicos, pero también está compuesto por personas y procedimientos que garantizan su funcionamiento.</a:t>
            </a:r>
          </a:p>
          <a:p>
            <a:pPr algn="l">
              <a:buFont typeface="Arial" panose="020B0604020202020204" pitchFamily="34" charset="0"/>
              <a:buChar char="•"/>
            </a:pPr>
            <a:r>
              <a:rPr lang="es-ES" sz="2400" b="1" i="0" dirty="0">
                <a:solidFill>
                  <a:srgbClr val="000000"/>
                </a:solidFill>
                <a:effectLst/>
                <a:latin typeface="Montserrat"/>
              </a:rPr>
              <a:t>Debe ser seguro</a:t>
            </a:r>
            <a:r>
              <a:rPr lang="es-ES" sz="2400" b="0" i="0" dirty="0">
                <a:solidFill>
                  <a:srgbClr val="000000"/>
                </a:solidFill>
                <a:effectLst/>
                <a:latin typeface="Montserrat"/>
              </a:rPr>
              <a:t>. Tiene que contar con herramientas tecnológicas que protejan la información, para que solo determinadas personas puedan consultarla y para que no se pierdan datos.</a:t>
            </a:r>
          </a:p>
          <a:p>
            <a:pPr algn="l">
              <a:buFont typeface="Arial" panose="020B0604020202020204" pitchFamily="34" charset="0"/>
              <a:buChar char="•"/>
            </a:pPr>
            <a:r>
              <a:rPr lang="es-ES" sz="2400" b="1" i="0" dirty="0">
                <a:solidFill>
                  <a:srgbClr val="000000"/>
                </a:solidFill>
                <a:effectLst/>
                <a:latin typeface="Montserrat"/>
              </a:rPr>
              <a:t>Debe poder ser actualizado</a:t>
            </a:r>
            <a:r>
              <a:rPr lang="es-ES" sz="2400" b="0" i="0" dirty="0">
                <a:solidFill>
                  <a:srgbClr val="000000"/>
                </a:solidFill>
                <a:effectLst/>
                <a:latin typeface="Montserrat"/>
              </a:rPr>
              <a:t>. Tiene que ser lo suficientemente versátil para poder recolectar nuevos datos y transformarlos en información útil. Además, debe poder adaptarse a nuevas tecnologías.</a:t>
            </a:r>
          </a:p>
          <a:p>
            <a:pPr algn="l">
              <a:buFont typeface="Arial" panose="020B0604020202020204" pitchFamily="34" charset="0"/>
              <a:buChar char="•"/>
            </a:pPr>
            <a:r>
              <a:rPr lang="es-ES" sz="2400" b="1" i="0" dirty="0">
                <a:solidFill>
                  <a:srgbClr val="000000"/>
                </a:solidFill>
                <a:effectLst/>
                <a:latin typeface="Montserrat"/>
              </a:rPr>
              <a:t>Se emplea con distintos objetivos</a:t>
            </a:r>
            <a:r>
              <a:rPr lang="es-ES" sz="2400" b="0" i="0" dirty="0">
                <a:solidFill>
                  <a:srgbClr val="000000"/>
                </a:solidFill>
                <a:effectLst/>
                <a:latin typeface="Montserrat"/>
              </a:rPr>
              <a:t>. Sirve para almacenar información que se utiliza para tomar decisiones, recolectar datos de clientes, dirigir las actividades de una organización, implementar cambios, realizar planificaciones, entre otros fines.</a:t>
            </a:r>
          </a:p>
        </p:txBody>
      </p:sp>
    </p:spTree>
    <p:extLst>
      <p:ext uri="{BB962C8B-B14F-4D97-AF65-F5344CB8AC3E}">
        <p14:creationId xmlns:p14="http://schemas.microsoft.com/office/powerpoint/2010/main" val="4266170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AF888895-50BB-428D-9FE1-D3EF3A4108E6}"/>
              </a:ext>
            </a:extLst>
          </p:cNvPr>
          <p:cNvSpPr txBox="1"/>
          <p:nvPr/>
        </p:nvSpPr>
        <p:spPr>
          <a:xfrm>
            <a:off x="308112" y="1121828"/>
            <a:ext cx="8570843" cy="4893647"/>
          </a:xfrm>
          <a:prstGeom prst="rect">
            <a:avLst/>
          </a:prstGeom>
          <a:noFill/>
        </p:spPr>
        <p:txBody>
          <a:bodyPr wrap="square">
            <a:spAutoFit/>
          </a:bodyPr>
          <a:lstStyle/>
          <a:p>
            <a:pPr algn="ctr"/>
            <a:r>
              <a:rPr lang="es-ES" sz="2400" b="1" i="0" dirty="0">
                <a:solidFill>
                  <a:srgbClr val="FF0000"/>
                </a:solidFill>
                <a:effectLst/>
                <a:latin typeface="Montserrat"/>
              </a:rPr>
              <a:t>Tipos de sistemas de información</a:t>
            </a:r>
          </a:p>
          <a:p>
            <a:pPr algn="l"/>
            <a:r>
              <a:rPr lang="es-ES" sz="2400" b="0" i="0" dirty="0">
                <a:solidFill>
                  <a:srgbClr val="000000"/>
                </a:solidFill>
                <a:effectLst/>
                <a:latin typeface="Montserrat"/>
              </a:rPr>
              <a:t>Desde un punto de vista empresarial u organizativo, los sistemas de información pueden clasificarse en:</a:t>
            </a:r>
          </a:p>
          <a:p>
            <a:pPr algn="l">
              <a:buFont typeface="Arial" panose="020B0604020202020204" pitchFamily="34" charset="0"/>
              <a:buChar char="•"/>
            </a:pPr>
            <a:r>
              <a:rPr lang="es-ES" sz="2400" b="1" i="0" dirty="0">
                <a:solidFill>
                  <a:srgbClr val="000000"/>
                </a:solidFill>
                <a:effectLst/>
                <a:latin typeface="Montserrat"/>
              </a:rPr>
              <a:t>Sistemas de procesamiento de transacciones </a:t>
            </a:r>
            <a:r>
              <a:rPr lang="es-ES" sz="2400" b="0" i="0" dirty="0">
                <a:solidFill>
                  <a:srgbClr val="000000"/>
                </a:solidFill>
                <a:effectLst/>
                <a:latin typeface="Montserrat"/>
              </a:rPr>
              <a:t>(TPS, por sus siglas en inglés). También conocidos como sistemas de gestión operativa, recopilan la información relacionada con las transacciones cotidianas de una organización. El tipo de datos que ordenan son horarios, información sobre las áreas y sus integrantes, logística, entre otros.</a:t>
            </a:r>
          </a:p>
          <a:p>
            <a:pPr algn="l">
              <a:buFont typeface="Arial" panose="020B0604020202020204" pitchFamily="34" charset="0"/>
              <a:buChar char="•"/>
            </a:pPr>
            <a:r>
              <a:rPr lang="es-ES" sz="2400" b="1" i="0" dirty="0">
                <a:solidFill>
                  <a:srgbClr val="000000"/>
                </a:solidFill>
                <a:effectLst/>
                <a:latin typeface="Montserrat"/>
              </a:rPr>
              <a:t>Sistemas de información ejecutiva </a:t>
            </a:r>
            <a:r>
              <a:rPr lang="es-ES" sz="2400" b="0" i="0" dirty="0">
                <a:solidFill>
                  <a:srgbClr val="000000"/>
                </a:solidFill>
                <a:effectLst/>
                <a:latin typeface="Montserrat"/>
              </a:rPr>
              <a:t>(EIS, por sus siglas en inglés). Organizan y proveen información relevante para los directores o encargados de un área y que sirve para cumplir objetivos, tomar decisiones y comunicar mejor.</a:t>
            </a:r>
          </a:p>
        </p:txBody>
      </p:sp>
    </p:spTree>
    <p:extLst>
      <p:ext uri="{BB962C8B-B14F-4D97-AF65-F5344CB8AC3E}">
        <p14:creationId xmlns:p14="http://schemas.microsoft.com/office/powerpoint/2010/main" val="9836779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641FC83-DA67-4D57-8CCB-DC9EF2628676}"/>
              </a:ext>
            </a:extLst>
          </p:cNvPr>
          <p:cNvSpPr txBox="1"/>
          <p:nvPr/>
        </p:nvSpPr>
        <p:spPr>
          <a:xfrm>
            <a:off x="424070" y="374317"/>
            <a:ext cx="10058400" cy="6109365"/>
          </a:xfrm>
          <a:prstGeom prst="rect">
            <a:avLst/>
          </a:prstGeom>
          <a:noFill/>
        </p:spPr>
        <p:txBody>
          <a:bodyPr wrap="square">
            <a:spAutoFit/>
          </a:bodyPr>
          <a:lstStyle/>
          <a:p>
            <a:pPr algn="l">
              <a:buFont typeface="Arial" panose="020B0604020202020204" pitchFamily="34" charset="0"/>
              <a:buChar char="•"/>
            </a:pPr>
            <a:r>
              <a:rPr lang="es-ES" sz="2300" b="1" i="0" dirty="0">
                <a:solidFill>
                  <a:srgbClr val="000000"/>
                </a:solidFill>
                <a:effectLst/>
                <a:latin typeface="Montserrat"/>
              </a:rPr>
              <a:t>Sistemas de información gerencial </a:t>
            </a:r>
            <a:r>
              <a:rPr lang="es-ES" sz="2300" b="0" i="0" dirty="0">
                <a:solidFill>
                  <a:srgbClr val="000000"/>
                </a:solidFill>
                <a:effectLst/>
                <a:latin typeface="Montserrat"/>
              </a:rPr>
              <a:t>(MIS, por sus siglas en inglés). También denominados sistemas de información para la administración (SIA), contemplan datos que son relevantes para empleados de jerarquía intermedia y que sirven para planificar, gestionar procesos y tomar decisiones. Incluyen información relacionada con el presupuesto, el inventario, las inversiones, los precios, entre otros.</a:t>
            </a:r>
          </a:p>
          <a:p>
            <a:pPr algn="l">
              <a:buFont typeface="Arial" panose="020B0604020202020204" pitchFamily="34" charset="0"/>
              <a:buChar char="•"/>
            </a:pPr>
            <a:r>
              <a:rPr lang="es-ES" sz="2300" b="1" i="0" dirty="0">
                <a:solidFill>
                  <a:srgbClr val="000000"/>
                </a:solidFill>
                <a:effectLst/>
                <a:latin typeface="Montserrat"/>
              </a:rPr>
              <a:t>Sistemas para el soporte de decisiones </a:t>
            </a:r>
            <a:r>
              <a:rPr lang="es-ES" sz="2300" b="0" i="0" dirty="0">
                <a:solidFill>
                  <a:srgbClr val="000000"/>
                </a:solidFill>
                <a:effectLst/>
                <a:latin typeface="Montserrat"/>
              </a:rPr>
              <a:t>(DSS, por sus siglas en inglés). Están orientados al procesamiento de información que es importante para la gerencia intermedia y que sirve para resolver problemas. Incluyen datos relacionados con análisis de costos, de distintas opciones, de beneficios, de oportunidades, entre otros.</a:t>
            </a:r>
          </a:p>
          <a:p>
            <a:pPr algn="l">
              <a:buFont typeface="Arial" panose="020B0604020202020204" pitchFamily="34" charset="0"/>
              <a:buChar char="•"/>
            </a:pPr>
            <a:r>
              <a:rPr lang="es-ES" sz="2300" b="1" i="0" dirty="0">
                <a:solidFill>
                  <a:srgbClr val="000000"/>
                </a:solidFill>
                <a:effectLst/>
                <a:latin typeface="Montserrat"/>
              </a:rPr>
              <a:t>Sistemas de información de procesos de negocios </a:t>
            </a:r>
            <a:r>
              <a:rPr lang="es-ES" sz="2300" b="0" i="0" dirty="0">
                <a:solidFill>
                  <a:srgbClr val="000000"/>
                </a:solidFill>
                <a:effectLst/>
                <a:latin typeface="Montserrat"/>
              </a:rPr>
              <a:t>(BPM, por sus siglas en inglés). Organizan información que es relevante para directores y otros empleados de la compañía y que sirve para controlar y mejorar la producción, la innovación, el comercio de un producto o un servicio y los procesos empresariales. Incluyen análisis detallados de los procesos productivos y comerciales, de la competencia y el mercado, de la gestión y la comunicación de la empresa, entre otros.</a:t>
            </a:r>
          </a:p>
        </p:txBody>
      </p:sp>
    </p:spTree>
    <p:extLst>
      <p:ext uri="{BB962C8B-B14F-4D97-AF65-F5344CB8AC3E}">
        <p14:creationId xmlns:p14="http://schemas.microsoft.com/office/powerpoint/2010/main" val="36909869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3DB4C0FB-7B8B-41E9-B609-A8EF821A5925}"/>
              </a:ext>
            </a:extLst>
          </p:cNvPr>
          <p:cNvSpPr txBox="1"/>
          <p:nvPr/>
        </p:nvSpPr>
        <p:spPr>
          <a:xfrm>
            <a:off x="573155" y="734658"/>
            <a:ext cx="8305801" cy="4893647"/>
          </a:xfrm>
          <a:prstGeom prst="rect">
            <a:avLst/>
          </a:prstGeom>
          <a:noFill/>
        </p:spPr>
        <p:txBody>
          <a:bodyPr wrap="square">
            <a:spAutoFit/>
          </a:bodyPr>
          <a:lstStyle/>
          <a:p>
            <a:pPr algn="ctr"/>
            <a:r>
              <a:rPr lang="es-ES" sz="3200" b="1" i="0" dirty="0">
                <a:solidFill>
                  <a:srgbClr val="FF0000"/>
                </a:solidFill>
                <a:effectLst/>
                <a:latin typeface="Montserrat"/>
              </a:rPr>
              <a:t>Elementos de un sistema de información</a:t>
            </a:r>
          </a:p>
          <a:p>
            <a:pPr algn="l"/>
            <a:r>
              <a:rPr lang="es-ES" sz="2800" b="0" i="0" dirty="0">
                <a:solidFill>
                  <a:srgbClr val="000000"/>
                </a:solidFill>
                <a:effectLst/>
                <a:latin typeface="Montserrat"/>
              </a:rPr>
              <a:t>Por lo general, se considera que todos los sistemas de información contienen una serie de componentes o elementos:</a:t>
            </a:r>
          </a:p>
          <a:p>
            <a:pPr algn="l">
              <a:buFont typeface="Arial" panose="020B0604020202020204" pitchFamily="34" charset="0"/>
              <a:buChar char="•"/>
            </a:pPr>
            <a:r>
              <a:rPr lang="es-ES" sz="2800" b="1" i="0" dirty="0">
                <a:solidFill>
                  <a:srgbClr val="000000"/>
                </a:solidFill>
                <a:effectLst/>
                <a:latin typeface="Montserrat"/>
              </a:rPr>
              <a:t>Equipos</a:t>
            </a:r>
            <a:r>
              <a:rPr lang="es-ES" sz="2800" b="0" i="0" dirty="0">
                <a:solidFill>
                  <a:srgbClr val="000000"/>
                </a:solidFill>
                <a:effectLst/>
                <a:latin typeface="Montserrat"/>
              </a:rPr>
              <a:t>. Son todos los elementos tecnológicos físicos o virtuales, como el </a:t>
            </a:r>
            <a:r>
              <a:rPr lang="es-ES" sz="2800" b="0" i="1" dirty="0">
                <a:solidFill>
                  <a:srgbClr val="000000"/>
                </a:solidFill>
                <a:effectLst/>
                <a:latin typeface="Montserrat"/>
              </a:rPr>
              <a:t>hardware</a:t>
            </a:r>
            <a:r>
              <a:rPr lang="es-ES" sz="2800" b="0" i="0" dirty="0">
                <a:solidFill>
                  <a:srgbClr val="000000"/>
                </a:solidFill>
                <a:effectLst/>
                <a:latin typeface="Montserrat"/>
              </a:rPr>
              <a:t>, el </a:t>
            </a:r>
            <a:r>
              <a:rPr lang="es-ES" sz="2800" b="0" i="1" dirty="0">
                <a:solidFill>
                  <a:srgbClr val="000000"/>
                </a:solidFill>
                <a:effectLst/>
                <a:latin typeface="Montserrat"/>
              </a:rPr>
              <a:t>software</a:t>
            </a:r>
            <a:r>
              <a:rPr lang="es-ES" sz="2800" b="0" i="0" dirty="0">
                <a:solidFill>
                  <a:srgbClr val="000000"/>
                </a:solidFill>
                <a:effectLst/>
                <a:latin typeface="Montserrat"/>
              </a:rPr>
              <a:t>, la red y las telecomunicaciones.</a:t>
            </a:r>
          </a:p>
          <a:p>
            <a:pPr algn="l">
              <a:buFont typeface="Arial" panose="020B0604020202020204" pitchFamily="34" charset="0"/>
              <a:buChar char="•"/>
            </a:pPr>
            <a:r>
              <a:rPr lang="es-ES" sz="2800" b="1" i="0" dirty="0">
                <a:solidFill>
                  <a:srgbClr val="000000"/>
                </a:solidFill>
                <a:effectLst/>
                <a:latin typeface="Montserrat"/>
              </a:rPr>
              <a:t>Personas</a:t>
            </a:r>
            <a:r>
              <a:rPr lang="es-ES" sz="2800" b="0" i="0" dirty="0">
                <a:solidFill>
                  <a:srgbClr val="000000"/>
                </a:solidFill>
                <a:effectLst/>
                <a:latin typeface="Montserrat"/>
              </a:rPr>
              <a:t>. Son todos los individuos que cumplen un rol en el sistema.</a:t>
            </a:r>
          </a:p>
          <a:p>
            <a:pPr algn="l">
              <a:buFont typeface="Arial" panose="020B0604020202020204" pitchFamily="34" charset="0"/>
              <a:buChar char="•"/>
            </a:pPr>
            <a:r>
              <a:rPr lang="es-ES" sz="2800" b="1" i="0" dirty="0">
                <a:solidFill>
                  <a:srgbClr val="000000"/>
                </a:solidFill>
                <a:effectLst/>
                <a:latin typeface="Montserrat"/>
              </a:rPr>
              <a:t>Datos</a:t>
            </a:r>
            <a:r>
              <a:rPr lang="es-ES" sz="2800" b="0" i="0" dirty="0">
                <a:solidFill>
                  <a:srgbClr val="000000"/>
                </a:solidFill>
                <a:effectLst/>
                <a:latin typeface="Montserrat"/>
              </a:rPr>
              <a:t>. Son todos los elementos relacionados con información cualitativa o cuantitativa.</a:t>
            </a:r>
          </a:p>
        </p:txBody>
      </p:sp>
    </p:spTree>
    <p:extLst>
      <p:ext uri="{BB962C8B-B14F-4D97-AF65-F5344CB8AC3E}">
        <p14:creationId xmlns:p14="http://schemas.microsoft.com/office/powerpoint/2010/main" val="3053455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624893B9-A2A9-40E6-A4F3-261E6C95C8AA}"/>
              </a:ext>
            </a:extLst>
          </p:cNvPr>
          <p:cNvPicPr>
            <a:picLocks noChangeAspect="1"/>
          </p:cNvPicPr>
          <p:nvPr/>
        </p:nvPicPr>
        <p:blipFill>
          <a:blip r:embed="rId2"/>
          <a:stretch>
            <a:fillRect/>
          </a:stretch>
        </p:blipFill>
        <p:spPr>
          <a:xfrm>
            <a:off x="424070" y="424070"/>
            <a:ext cx="10058400" cy="5989982"/>
          </a:xfrm>
          <a:prstGeom prst="rect">
            <a:avLst/>
          </a:prstGeom>
        </p:spPr>
      </p:pic>
    </p:spTree>
    <p:extLst>
      <p:ext uri="{BB962C8B-B14F-4D97-AF65-F5344CB8AC3E}">
        <p14:creationId xmlns:p14="http://schemas.microsoft.com/office/powerpoint/2010/main" val="3916650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26A0ECC8-01D6-4E09-975F-B8D536344E2B}"/>
              </a:ext>
            </a:extLst>
          </p:cNvPr>
          <p:cNvPicPr>
            <a:picLocks noChangeAspect="1"/>
          </p:cNvPicPr>
          <p:nvPr/>
        </p:nvPicPr>
        <p:blipFill>
          <a:blip r:embed="rId2"/>
          <a:stretch>
            <a:fillRect/>
          </a:stretch>
        </p:blipFill>
        <p:spPr>
          <a:xfrm>
            <a:off x="1166190" y="598211"/>
            <a:ext cx="8878957" cy="5661577"/>
          </a:xfrm>
          <a:prstGeom prst="rect">
            <a:avLst/>
          </a:prstGeom>
        </p:spPr>
      </p:pic>
    </p:spTree>
    <p:extLst>
      <p:ext uri="{BB962C8B-B14F-4D97-AF65-F5344CB8AC3E}">
        <p14:creationId xmlns:p14="http://schemas.microsoft.com/office/powerpoint/2010/main" val="3582091109"/>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51</TotalTime>
  <Words>815</Words>
  <Application>Microsoft Office PowerPoint</Application>
  <PresentationFormat>Panorámica</PresentationFormat>
  <Paragraphs>33</Paragraphs>
  <Slides>10</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10</vt:i4>
      </vt:variant>
    </vt:vector>
  </HeadingPairs>
  <TitlesOfParts>
    <vt:vector size="17" baseType="lpstr">
      <vt:lpstr>Algerian</vt:lpstr>
      <vt:lpstr>Arial</vt:lpstr>
      <vt:lpstr>Google Sans</vt:lpstr>
      <vt:lpstr>Montserrat</vt:lpstr>
      <vt:lpstr>Trebuchet MS</vt:lpstr>
      <vt:lpstr>Wingdings 3</vt:lpstr>
      <vt:lpstr>Faceta</vt:lpstr>
      <vt:lpstr>Diseños de sistemas informáticos</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Diseños de sistemas informáticos</dc:title>
  <dc:creator>Alumno</dc:creator>
  <cp:lastModifiedBy>Alumno</cp:lastModifiedBy>
  <cp:revision>3</cp:revision>
  <dcterms:created xsi:type="dcterms:W3CDTF">2026-02-16T19:35:59Z</dcterms:created>
  <dcterms:modified xsi:type="dcterms:W3CDTF">2026-02-17T17:47:25Z</dcterms:modified>
</cp:coreProperties>
</file>