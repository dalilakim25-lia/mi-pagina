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8A353-4551-ACF4-AA9A-1F6E9B76CB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>
                <a:latin typeface="Algerian" panose="04020705040A02060702" pitchFamily="82" charset="0"/>
              </a:rPr>
              <a:t>Requerimientos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34042E-7D2D-1206-F8EA-73E431327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>
                <a:latin typeface="Algerian" panose="04020705040A02060702" pitchFamily="82" charset="0"/>
              </a:rPr>
              <a:t>Funcionales y no funcionales</a:t>
            </a:r>
          </a:p>
        </p:txBody>
      </p:sp>
    </p:spTree>
    <p:extLst>
      <p:ext uri="{BB962C8B-B14F-4D97-AF65-F5344CB8AC3E}">
        <p14:creationId xmlns:p14="http://schemas.microsoft.com/office/powerpoint/2010/main" val="392705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48D4388-B078-E6D5-7FC6-A8BF4BF295EF}"/>
              </a:ext>
            </a:extLst>
          </p:cNvPr>
          <p:cNvSpPr txBox="1"/>
          <p:nvPr/>
        </p:nvSpPr>
        <p:spPr>
          <a:xfrm>
            <a:off x="3868615" y="518720"/>
            <a:ext cx="6105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¿Qué son los Requerimientos?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2E50210-41B1-A283-C703-BD4AFAE8F320}"/>
              </a:ext>
            </a:extLst>
          </p:cNvPr>
          <p:cNvSpPr txBox="1"/>
          <p:nvPr/>
        </p:nvSpPr>
        <p:spPr>
          <a:xfrm>
            <a:off x="365760" y="2090172"/>
            <a:ext cx="48627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Son necesidades que debe cumplir un sistema.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Definen qué debe hacer y cómo debe funcionar.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Son la base del desarrollo de software.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FCFE380-DFB6-9B5C-E2C9-7581B72D7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52" y="2090172"/>
            <a:ext cx="501015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6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6C12C39-72E8-60AE-CA04-D16414EE6DFF}"/>
              </a:ext>
            </a:extLst>
          </p:cNvPr>
          <p:cNvSpPr txBox="1"/>
          <p:nvPr/>
        </p:nvSpPr>
        <p:spPr>
          <a:xfrm>
            <a:off x="2377439" y="645328"/>
            <a:ext cx="6105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Clasificación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BEACA6-930A-068B-676A-47FE8FB57E9A}"/>
              </a:ext>
            </a:extLst>
          </p:cNvPr>
          <p:cNvSpPr txBox="1"/>
          <p:nvPr/>
        </p:nvSpPr>
        <p:spPr>
          <a:xfrm>
            <a:off x="151621" y="1702583"/>
            <a:ext cx="443444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s-SV" sz="2800" b="1" dirty="0">
                <a:latin typeface="Arial" panose="020B0604020202020204" pitchFamily="34" charset="0"/>
                <a:cs typeface="Arial" panose="020B0604020202020204" pitchFamily="34" charset="0"/>
              </a:rPr>
              <a:t>Requerimientos Funcionales</a:t>
            </a:r>
          </a:p>
          <a:p>
            <a:pPr marL="457200" indent="-457200">
              <a:buAutoNum type="arabicParenR"/>
            </a:pPr>
            <a:endParaRPr lang="es-SV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SV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SV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SV" sz="2800" b="1" dirty="0">
                <a:latin typeface="Arial" panose="020B0604020202020204" pitchFamily="34" charset="0"/>
                <a:cs typeface="Arial" panose="020B0604020202020204" pitchFamily="34" charset="0"/>
              </a:rPr>
              <a:t>2) Requerimientos No Funcionales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EFF1D8D-2B18-2556-D73E-E8994636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254" y="1427871"/>
            <a:ext cx="7115125" cy="400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8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D995BF2-09B2-9969-6910-8FEE7EFB0616}"/>
              </a:ext>
            </a:extLst>
          </p:cNvPr>
          <p:cNvSpPr txBox="1"/>
          <p:nvPr/>
        </p:nvSpPr>
        <p:spPr>
          <a:xfrm>
            <a:off x="2574387" y="532786"/>
            <a:ext cx="6105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Requerimientos Funcionales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8665D0-763A-31CA-224A-D5B65967B623}"/>
              </a:ext>
            </a:extLst>
          </p:cNvPr>
          <p:cNvSpPr txBox="1"/>
          <p:nvPr/>
        </p:nvSpPr>
        <p:spPr>
          <a:xfrm>
            <a:off x="384517" y="2029546"/>
            <a:ext cx="46829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Describen qué hace el sistema.</a:t>
            </a: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Son acciones o procesos.</a:t>
            </a: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Se pueden probar fácilmente.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B97363F-C822-51C0-7477-263199A12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496" y="1699622"/>
            <a:ext cx="6589932" cy="370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EDDF304-9AF8-04CE-7A79-DD3B94C5E426}"/>
              </a:ext>
            </a:extLst>
          </p:cNvPr>
          <p:cNvSpPr txBox="1"/>
          <p:nvPr/>
        </p:nvSpPr>
        <p:spPr>
          <a:xfrm>
            <a:off x="2897945" y="518719"/>
            <a:ext cx="7132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Ejemplos Funcionales (Sistema Escolar)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0D8F18-D4FC-FB9F-A943-0D5DF72CDD77}"/>
              </a:ext>
            </a:extLst>
          </p:cNvPr>
          <p:cNvSpPr txBox="1"/>
          <p:nvPr/>
        </p:nvSpPr>
        <p:spPr>
          <a:xfrm>
            <a:off x="595532" y="1652844"/>
            <a:ext cx="410307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Iniciar sesión.</a:t>
            </a: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Registrar estudiantes.</a:t>
            </a: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Calcular promedios.</a:t>
            </a: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Generar reportes.</a:t>
            </a: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Modificar datos.</a:t>
            </a:r>
            <a:endParaRPr lang="es-SV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C8C074-6FA1-89A0-451C-BEEBCA82A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681" y="1652844"/>
            <a:ext cx="5249111" cy="366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3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4604BAE-A080-D0E2-20B6-FF1F5011AFAE}"/>
              </a:ext>
            </a:extLst>
          </p:cNvPr>
          <p:cNvSpPr txBox="1"/>
          <p:nvPr/>
        </p:nvSpPr>
        <p:spPr>
          <a:xfrm>
            <a:off x="2616591" y="729734"/>
            <a:ext cx="6105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Requerimientos No Funcionales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CADE01-60C5-B271-5471-357744130E61}"/>
              </a:ext>
            </a:extLst>
          </p:cNvPr>
          <p:cNvSpPr txBox="1"/>
          <p:nvPr/>
        </p:nvSpPr>
        <p:spPr>
          <a:xfrm>
            <a:off x="354037" y="1789166"/>
            <a:ext cx="452510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Describen cómo funciona el sistema.</a:t>
            </a: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Se relacionan con calidad.</a:t>
            </a: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• Mejoran la experiencia del usuario.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62A105-5317-CB67-2934-D69ADE31A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587" y="1986114"/>
            <a:ext cx="5858764" cy="373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49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FA74CF4-5323-3D6C-BFF8-B9898AAEC86E}"/>
              </a:ext>
            </a:extLst>
          </p:cNvPr>
          <p:cNvSpPr txBox="1"/>
          <p:nvPr/>
        </p:nvSpPr>
        <p:spPr>
          <a:xfrm>
            <a:off x="3043311" y="462448"/>
            <a:ext cx="6105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Tipos de Requerimientos No Funcionales</a:t>
            </a:r>
            <a:endParaRPr lang="es-SV" sz="24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CBF97D-54DE-C3C7-60AF-03981812A9E6}"/>
              </a:ext>
            </a:extLst>
          </p:cNvPr>
          <p:cNvSpPr txBox="1"/>
          <p:nvPr/>
        </p:nvSpPr>
        <p:spPr>
          <a:xfrm>
            <a:off x="649459" y="1874728"/>
            <a:ext cx="47877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Rendimiento (cargar rápido).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Seguridad (proteger contraseñas).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Usabilidad (fácil de usar).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Disponibilidad (24/7).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Compatibilidad.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55EB7F8-C119-07CE-F09F-A525208E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849" y="2131144"/>
            <a:ext cx="5642534" cy="31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C4F24B4-15EC-F1D3-F0F6-351CB55A6633}"/>
              </a:ext>
            </a:extLst>
          </p:cNvPr>
          <p:cNvSpPr txBox="1"/>
          <p:nvPr/>
        </p:nvSpPr>
        <p:spPr>
          <a:xfrm>
            <a:off x="3305907" y="856344"/>
            <a:ext cx="6105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Diferencias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E3990A-368F-506B-5DEB-8B56D4A0BE12}"/>
              </a:ext>
            </a:extLst>
          </p:cNvPr>
          <p:cNvSpPr txBox="1"/>
          <p:nvPr/>
        </p:nvSpPr>
        <p:spPr>
          <a:xfrm>
            <a:off x="499400" y="1744787"/>
            <a:ext cx="456496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Funcionales → Qué hace el sistema.</a:t>
            </a:r>
          </a:p>
          <a:p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No Funcionales → Cómo lo hace.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B639745-5B25-8859-6D32-AC840F673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13599"/>
            <a:ext cx="5596600" cy="31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14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454DB8E-3B06-4E4C-D90A-97F38101EB51}"/>
              </a:ext>
            </a:extLst>
          </p:cNvPr>
          <p:cNvSpPr txBox="1"/>
          <p:nvPr/>
        </p:nvSpPr>
        <p:spPr>
          <a:xfrm>
            <a:off x="1209822" y="378042"/>
            <a:ext cx="9594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SV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Importancia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C1A4E8-A3BA-69AB-5ABD-96B4E9771353}"/>
              </a:ext>
            </a:extLst>
          </p:cNvPr>
          <p:cNvSpPr txBox="1"/>
          <p:nvPr/>
        </p:nvSpPr>
        <p:spPr>
          <a:xfrm>
            <a:off x="450166" y="1797134"/>
            <a:ext cx="461420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Evitan errores en el desarrollo.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Reducen costos.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Mejoran la calidad del sistema.</a:t>
            </a:r>
          </a:p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• Sirven como guía para programadores.</a:t>
            </a:r>
          </a:p>
        </p:txBody>
      </p:sp>
      <p:pic>
        <p:nvPicPr>
          <p:cNvPr id="1026" name="Picture 2" descr="INGENIERIA DE REQUERIMIENTOS: OBTENCIÓN Y VALIDACIÓN DE REQUERIMIENTOS NO  FUNCIONALES">
            <a:extLst>
              <a:ext uri="{FF2B5EF4-FFF2-40B4-BE49-F238E27FC236}">
                <a16:creationId xmlns:a16="http://schemas.microsoft.com/office/drawing/2014/main" id="{90FC76B0-8563-EAD7-3CE2-4685A0C2B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217" y="1492632"/>
            <a:ext cx="5959617" cy="371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161397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{7B294F53-0CC6-4C70-9036-5ED446F7574A}TFc986dd65-aaf0-4d5c-bef9-9c391ee05f7b6a80d193-c6c005e2f19e</Template>
  <TotalTime>81</TotalTime>
  <Words>192</Words>
  <Application>Microsoft Office PowerPoint</Application>
  <PresentationFormat>Panorámica</PresentationFormat>
  <Paragraphs>42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Algerian</vt:lpstr>
      <vt:lpstr>Arial</vt:lpstr>
      <vt:lpstr>Gill Sans MT</vt:lpstr>
      <vt:lpstr>Galería</vt:lpstr>
      <vt:lpstr>Requerimientos de sistemas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</dc:creator>
  <cp:lastModifiedBy>Alumno</cp:lastModifiedBy>
  <cp:revision>3</cp:revision>
  <dcterms:created xsi:type="dcterms:W3CDTF">2026-03-03T14:51:51Z</dcterms:created>
  <dcterms:modified xsi:type="dcterms:W3CDTF">2026-03-04T03:19:22Z</dcterms:modified>
</cp:coreProperties>
</file>