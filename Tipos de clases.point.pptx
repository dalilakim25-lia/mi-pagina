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C897-F5A9-68F1-F2F0-E128E15CF1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SV" dirty="0"/>
              <a:t>Tipos de clases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6C3F0A-5552-B482-F934-0CEE26AA08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162906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3248291-2B7F-D2DF-163E-FD852982632B}"/>
              </a:ext>
            </a:extLst>
          </p:cNvPr>
          <p:cNvSpPr txBox="1"/>
          <p:nvPr/>
        </p:nvSpPr>
        <p:spPr>
          <a:xfrm>
            <a:off x="196948" y="460943"/>
            <a:ext cx="610537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¿Qué es una clase?</a:t>
            </a:r>
          </a:p>
          <a:p>
            <a:pPr>
              <a:buNone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Una </a:t>
            </a:r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clase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es una estructura fundamental en la programación orientada a objetos.</a:t>
            </a:r>
          </a:p>
          <a:p>
            <a:pPr>
              <a:buNone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Permite: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Representar elementos del mundo real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Organizar la información del sistema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Definir atributos y métodos </a:t>
            </a:r>
          </a:p>
          <a:p>
            <a:pPr>
              <a:buNone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i="1" dirty="0">
                <a:latin typeface="Arial" panose="020B0604020202020204" pitchFamily="34" charset="0"/>
                <a:cs typeface="Arial" panose="020B0604020202020204" pitchFamily="34" charset="0"/>
              </a:rPr>
              <a:t>Ejemplo:</a:t>
            </a:r>
            <a:b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Clase: Alumno → tiene nombre, edad y puede estudiar()</a:t>
            </a:r>
          </a:p>
        </p:txBody>
      </p:sp>
    </p:spTree>
    <p:extLst>
      <p:ext uri="{BB962C8B-B14F-4D97-AF65-F5344CB8AC3E}">
        <p14:creationId xmlns:p14="http://schemas.microsoft.com/office/powerpoint/2010/main" val="1745433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C91C281-378C-BA6F-381D-7B6AE6B4CEFA}"/>
              </a:ext>
            </a:extLst>
          </p:cNvPr>
          <p:cNvSpPr txBox="1"/>
          <p:nvPr/>
        </p:nvSpPr>
        <p:spPr>
          <a:xfrm>
            <a:off x="267286" y="384074"/>
            <a:ext cx="610537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Importancia de las clases</a:t>
            </a:r>
          </a:p>
          <a:p>
            <a:pPr>
              <a:buNone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Las clases son importantes porque: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Permiten dividir el sistema en partes pequeñas </a:t>
            </a:r>
          </a:p>
          <a:p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Facilitan el diseño antes de programar </a:t>
            </a:r>
          </a:p>
          <a:p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Ayudan a entender mejor el funcionamiento del sistema </a:t>
            </a:r>
          </a:p>
          <a:p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Permiten reutilizar código</a:t>
            </a:r>
          </a:p>
        </p:txBody>
      </p:sp>
    </p:spTree>
    <p:extLst>
      <p:ext uri="{BB962C8B-B14F-4D97-AF65-F5344CB8AC3E}">
        <p14:creationId xmlns:p14="http://schemas.microsoft.com/office/powerpoint/2010/main" val="2924685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EA74C07-FC50-01B5-DAAC-58596E2F6063}"/>
              </a:ext>
            </a:extLst>
          </p:cNvPr>
          <p:cNvSpPr txBox="1"/>
          <p:nvPr/>
        </p:nvSpPr>
        <p:spPr>
          <a:xfrm>
            <a:off x="140677" y="0"/>
            <a:ext cx="6780627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200" b="1" dirty="0">
                <a:latin typeface="Arial" panose="020B0604020202020204" pitchFamily="34" charset="0"/>
                <a:cs typeface="Arial" panose="020B0604020202020204" pitchFamily="34" charset="0"/>
              </a:rPr>
              <a:t>Clases básicas</a:t>
            </a:r>
          </a:p>
          <a:p>
            <a:pPr>
              <a:buNone/>
            </a:pPr>
            <a:r>
              <a:rPr lang="es-ES" sz="2200" b="1" dirty="0">
                <a:latin typeface="Arial" panose="020B0604020202020204" pitchFamily="34" charset="0"/>
                <a:cs typeface="Arial" panose="020B0604020202020204" pitchFamily="34" charset="0"/>
              </a:rPr>
              <a:t>Entidad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Representan objetos reales del sistema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Contienen datos importantes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Son la base del modelo </a:t>
            </a:r>
          </a:p>
          <a:p>
            <a:pPr>
              <a:buNone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 Ejemplo: Alumno, Docente, Materia</a:t>
            </a:r>
          </a:p>
          <a:p>
            <a:pPr>
              <a:buNone/>
            </a:pPr>
            <a:b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2200" b="1" dirty="0">
                <a:latin typeface="Arial" panose="020B0604020202020204" pitchFamily="34" charset="0"/>
                <a:cs typeface="Arial" panose="020B0604020202020204" pitchFamily="34" charset="0"/>
              </a:rPr>
              <a:t>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Gestionan procesos y lógica del sistema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Coordinan otras clases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Ejecutan acciones </a:t>
            </a:r>
          </a:p>
          <a:p>
            <a:pPr>
              <a:buNone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 Ejemplo: Sistema de notas</a:t>
            </a:r>
          </a:p>
          <a:p>
            <a:pPr>
              <a:buNone/>
            </a:pPr>
            <a:b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2200" b="1" dirty="0">
                <a:latin typeface="Arial" panose="020B0604020202020204" pitchFamily="34" charset="0"/>
                <a:cs typeface="Arial" panose="020B0604020202020204" pitchFamily="34" charset="0"/>
              </a:rPr>
              <a:t> Interfaz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Permiten la interacción con el usuario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Muestran información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Reciben datos </a:t>
            </a:r>
          </a:p>
          <a:p>
            <a:pPr>
              <a:buNone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 Ejemplo: Formularios, pantallas</a:t>
            </a:r>
          </a:p>
        </p:txBody>
      </p:sp>
    </p:spTree>
    <p:extLst>
      <p:ext uri="{BB962C8B-B14F-4D97-AF65-F5344CB8AC3E}">
        <p14:creationId xmlns:p14="http://schemas.microsoft.com/office/powerpoint/2010/main" val="4130911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0167EF6-C7DD-BD57-EBEC-5810A81A00CA}"/>
              </a:ext>
            </a:extLst>
          </p:cNvPr>
          <p:cNvSpPr txBox="1"/>
          <p:nvPr/>
        </p:nvSpPr>
        <p:spPr>
          <a:xfrm>
            <a:off x="618978" y="363644"/>
            <a:ext cx="6105378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200" b="1" dirty="0">
                <a:latin typeface="Arial" panose="020B0604020202020204" pitchFamily="34" charset="0"/>
                <a:cs typeface="Arial" panose="020B0604020202020204" pitchFamily="34" charset="0"/>
              </a:rPr>
              <a:t>Clases avanzadas</a:t>
            </a:r>
          </a:p>
          <a:p>
            <a:pPr>
              <a:buNone/>
            </a:pPr>
            <a:r>
              <a:rPr lang="es-ES" sz="2200" b="1" dirty="0">
                <a:latin typeface="Arial" panose="020B0604020202020204" pitchFamily="34" charset="0"/>
                <a:cs typeface="Arial" panose="020B0604020202020204" pitchFamily="34" charset="0"/>
              </a:rPr>
              <a:t> Clase Abstracta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No se puede crear directamente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Define una estructura general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Sirve como base para otras clases </a:t>
            </a:r>
          </a:p>
          <a:p>
            <a:pPr>
              <a:buNone/>
            </a:pPr>
            <a:b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2200" b="1" dirty="0">
                <a:latin typeface="Arial" panose="020B0604020202020204" pitchFamily="34" charset="0"/>
                <a:cs typeface="Arial" panose="020B0604020202020204" pitchFamily="34" charset="0"/>
              </a:rPr>
              <a:t> Clase Derivada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Hereda atributos y métodos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Permite reutilizar código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Extiende funcionalidades </a:t>
            </a:r>
          </a:p>
          <a:p>
            <a:pPr>
              <a:buNone/>
            </a:pPr>
            <a:b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2200" b="1" dirty="0">
                <a:latin typeface="Arial" panose="020B0604020202020204" pitchFamily="34" charset="0"/>
                <a:cs typeface="Arial" panose="020B0604020202020204" pitchFamily="34" charset="0"/>
              </a:rPr>
              <a:t> Clase 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Clase principal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Contiene características generales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De ella nacen otras clases</a:t>
            </a:r>
          </a:p>
        </p:txBody>
      </p:sp>
    </p:spTree>
    <p:extLst>
      <p:ext uri="{BB962C8B-B14F-4D97-AF65-F5344CB8AC3E}">
        <p14:creationId xmlns:p14="http://schemas.microsoft.com/office/powerpoint/2010/main" val="1519924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7D12CB6-D74C-C399-171D-87CB6ABA1EF8}"/>
              </a:ext>
            </a:extLst>
          </p:cNvPr>
          <p:cNvSpPr txBox="1"/>
          <p:nvPr/>
        </p:nvSpPr>
        <p:spPr>
          <a:xfrm>
            <a:off x="152401" y="335845"/>
            <a:ext cx="581230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200" b="1" dirty="0">
                <a:latin typeface="Arial" panose="020B0604020202020204" pitchFamily="34" charset="0"/>
                <a:cs typeface="Arial" panose="020B0604020202020204" pitchFamily="34" charset="0"/>
              </a:rPr>
              <a:t>Otros tipos de clases</a:t>
            </a:r>
          </a:p>
          <a:p>
            <a:pPr>
              <a:buNone/>
            </a:pPr>
            <a:r>
              <a:rPr lang="es-ES" sz="2200" b="1" dirty="0">
                <a:latin typeface="Arial" panose="020B0604020202020204" pitchFamily="34" charset="0"/>
                <a:cs typeface="Arial" panose="020B0604020202020204" pitchFamily="34" charset="0"/>
              </a:rPr>
              <a:t> Clase Contenedora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Agrupa objetos o clases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Organiza información </a:t>
            </a:r>
          </a:p>
          <a:p>
            <a:pPr>
              <a:buNone/>
            </a:pPr>
            <a:b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2200" b="1" dirty="0">
                <a:latin typeface="Arial" panose="020B0604020202020204" pitchFamily="34" charset="0"/>
                <a:cs typeface="Arial" panose="020B0604020202020204" pitchFamily="34" charset="0"/>
              </a:rPr>
              <a:t>Clase Asociativa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Representa la relación entre dos clases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Puede guardar información de esa relación </a:t>
            </a:r>
          </a:p>
          <a:p>
            <a:pPr>
              <a:buNone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 Ejemplo: Alumno - Materia (nota)</a:t>
            </a:r>
          </a:p>
          <a:p>
            <a:pPr>
              <a:buNone/>
            </a:pPr>
            <a:b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2200" b="1" dirty="0">
                <a:latin typeface="Arial" panose="020B0604020202020204" pitchFamily="34" charset="0"/>
                <a:cs typeface="Arial" panose="020B0604020202020204" pitchFamily="34" charset="0"/>
              </a:rPr>
              <a:t> Objeto (Instancia)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Es una clase convertida en algo real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Representa un caso específico </a:t>
            </a:r>
          </a:p>
          <a:p>
            <a:pPr>
              <a:buNone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 Ejemplo:</a:t>
            </a:r>
            <a:b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Alumno → clase</a:t>
            </a:r>
            <a:b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Pedro → objeto</a:t>
            </a:r>
          </a:p>
        </p:txBody>
      </p:sp>
    </p:spTree>
    <p:extLst>
      <p:ext uri="{BB962C8B-B14F-4D97-AF65-F5344CB8AC3E}">
        <p14:creationId xmlns:p14="http://schemas.microsoft.com/office/powerpoint/2010/main" val="1864606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D17E8B9-AC5D-1590-E1AD-E64DB67996DC}"/>
              </a:ext>
            </a:extLst>
          </p:cNvPr>
          <p:cNvSpPr txBox="1"/>
          <p:nvPr/>
        </p:nvSpPr>
        <p:spPr>
          <a:xfrm>
            <a:off x="801860" y="1087720"/>
            <a:ext cx="1018500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Relación entre clases</a:t>
            </a:r>
          </a:p>
          <a:p>
            <a:pPr>
              <a:buNone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Las clases no trabajan solas, se relacionan entre sí: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Asociación → relación simple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Herencia → una clase hereda de otra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Composición → una clase contiene otra </a:t>
            </a:r>
          </a:p>
          <a:p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Esto permite crear sistemas más completos</a:t>
            </a:r>
          </a:p>
        </p:txBody>
      </p:sp>
    </p:spTree>
    <p:extLst>
      <p:ext uri="{BB962C8B-B14F-4D97-AF65-F5344CB8AC3E}">
        <p14:creationId xmlns:p14="http://schemas.microsoft.com/office/powerpoint/2010/main" val="3979822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B6DB64F-6A1A-3C2B-3F7C-22DF49608BD6}"/>
              </a:ext>
            </a:extLst>
          </p:cNvPr>
          <p:cNvSpPr txBox="1"/>
          <p:nvPr/>
        </p:nvSpPr>
        <p:spPr>
          <a:xfrm>
            <a:off x="1130104" y="1143728"/>
            <a:ext cx="993179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Aplicación en la vida real</a:t>
            </a:r>
          </a:p>
          <a:p>
            <a:pPr>
              <a:buNone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Las clases se usan en muchos sistemas: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Sistemas escolares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Aplicaciones móviles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Redes sociales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Videojuegos 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 Ayudan a representar la realidad en software</a:t>
            </a:r>
          </a:p>
        </p:txBody>
      </p:sp>
    </p:spTree>
    <p:extLst>
      <p:ext uri="{BB962C8B-B14F-4D97-AF65-F5344CB8AC3E}">
        <p14:creationId xmlns:p14="http://schemas.microsoft.com/office/powerpoint/2010/main" val="3616845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7239F04-026C-6FAD-0F0F-05822AF9929D}"/>
              </a:ext>
            </a:extLst>
          </p:cNvPr>
          <p:cNvSpPr txBox="1"/>
          <p:nvPr/>
        </p:nvSpPr>
        <p:spPr>
          <a:xfrm>
            <a:off x="633047" y="946781"/>
            <a:ext cx="107055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</a:p>
          <a:p>
            <a:pPr>
              <a:buNone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Las clases en UML son esenciales para el desarrollo de software.</a:t>
            </a:r>
          </a:p>
          <a:p>
            <a:pPr>
              <a:buNone/>
            </a:pPr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Permiten: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Organizar información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Modelar sistemas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Facilitar el trabajo de los programadores</a:t>
            </a:r>
          </a:p>
        </p:txBody>
      </p:sp>
    </p:spTree>
    <p:extLst>
      <p:ext uri="{BB962C8B-B14F-4D97-AF65-F5344CB8AC3E}">
        <p14:creationId xmlns:p14="http://schemas.microsoft.com/office/powerpoint/2010/main" val="1576443007"/>
      </p:ext>
    </p:extLst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2841</TotalTime>
  <Words>354</Words>
  <Application>Microsoft Office PowerPoint</Application>
  <PresentationFormat>Panorámica</PresentationFormat>
  <Paragraphs>88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Sector</vt:lpstr>
      <vt:lpstr>Tipos de clases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Alumno</dc:creator>
  <cp:lastModifiedBy>Alumno</cp:lastModifiedBy>
  <cp:revision>1</cp:revision>
  <dcterms:created xsi:type="dcterms:W3CDTF">2026-03-23T20:06:08Z</dcterms:created>
  <dcterms:modified xsi:type="dcterms:W3CDTF">2026-03-25T19:27:26Z</dcterms:modified>
</cp:coreProperties>
</file>